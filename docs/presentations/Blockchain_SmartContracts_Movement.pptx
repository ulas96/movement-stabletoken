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01" d="100"/>
          <a:sy n="101" d="100"/>
        </p:scale>
        <p:origin x="7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Blockchain &amp; Smart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CD00"/>
                </a:solidFill>
                <a:latin typeface="Calibri"/>
              </a:defRPr>
            </a:pPr>
            <a:r>
              <a:t>Understanding the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182880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rPr dirty="0"/>
              <a:t>Movement Networ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lang="en-US" dirty="0"/>
              <a:t>Ulaş</a:t>
            </a:r>
            <a:r>
              <a:rPr dirty="0"/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What is Blockchain?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61487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761487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How Blockchain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1985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419856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Decentralization, Consensus</a:t>
            </a:r>
            <a:r>
              <a:rPr lang="en-US" dirty="0"/>
              <a:t> &amp; </a:t>
            </a:r>
            <a:r>
              <a:rPr dirty="0"/>
              <a:t>Immutability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78224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07822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What are Smart Contracts?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3659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736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Smart Contract 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9495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39495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Introduction to Movement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05332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60533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Building on Movement — Getting Started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71169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671169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is Blockchain?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Calibri"/>
              </a:defRPr>
            </a:pPr>
            <a:r>
              <a:t>A distributed, immutable ledger that records transactions across a peer-to-peer network — eliminating the need for a central authority.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2743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480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D00"/>
                </a:solidFill>
                <a:latin typeface="Calibri"/>
              </a:defRPr>
            </a:pPr>
            <a:r>
              <a:t>Distributed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1206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Shared across thousands</a:t>
            </a:r>
            <a:br/>
            <a:r>
              <a:t>of nodes worldwide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474720"/>
            <a:ext cx="2743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480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D00"/>
                </a:solidFill>
                <a:latin typeface="Calibri"/>
              </a:defRPr>
            </a:pPr>
            <a:r>
              <a:t>Immutable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1206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Once written, data cannot</a:t>
            </a:r>
            <a:br/>
            <a:r>
              <a:t>be altered or deleted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474720"/>
            <a:ext cx="2743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480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D00"/>
                </a:solidFill>
                <a:latin typeface="Calibri"/>
              </a:defRPr>
            </a:pPr>
            <a:r>
              <a:t>Trustless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1206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No intermediary needed —</a:t>
            </a:r>
            <a:br/>
            <a:r>
              <a:t>math replaces trust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98480" y="3474720"/>
            <a:ext cx="2743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4480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D00"/>
                </a:solidFill>
                <a:latin typeface="Calibri"/>
              </a:defRPr>
            </a:pPr>
            <a:r>
              <a:t>Transparent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51206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Anyone can verify</a:t>
            </a:r>
            <a:br/>
            <a:r>
              <a:t>transactions on-chain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How Blockchain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377440" cy="3840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08760" y="2834640"/>
            <a:ext cx="731520" cy="73152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0D0D0D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Transaction</a:t>
            </a:r>
            <a:br/>
            <a:r>
              <a:t>Initiated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A user requests</a:t>
            </a:r>
            <a:br/>
            <a:r>
              <a:t>a transaction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560320"/>
            <a:ext cx="2377440" cy="3840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97679" y="2834640"/>
            <a:ext cx="731520" cy="73152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0D0D0D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19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Broadcast to</a:t>
            </a:r>
            <a:br/>
            <a: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19" y="4937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Transaction is sent</a:t>
            </a:r>
            <a:br/>
            <a:r>
              <a:t>to all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599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560320"/>
            <a:ext cx="2377440" cy="3840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86599" y="2834640"/>
            <a:ext cx="731520" cy="73152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0D0D0D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39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Validation &amp;</a:t>
            </a:r>
            <a:br/>
            <a:r>
              <a:t>Consensus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4937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Nodes verify using</a:t>
            </a:r>
            <a:br/>
            <a:r>
              <a:t>consensus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19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560320"/>
            <a:ext cx="2377440" cy="3840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875520" y="2834640"/>
            <a:ext cx="731520" cy="73152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0D0D0D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Block</a:t>
            </a:r>
            <a:br/>
            <a:r>
              <a:t>Created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4937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Valid transactions are</a:t>
            </a:r>
            <a:br/>
            <a:r>
              <a:t>grouped into a 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2560320"/>
            <a:ext cx="2377440" cy="3840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664440" y="2834640"/>
            <a:ext cx="731520" cy="73152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0D0D0D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0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Chain</a:t>
            </a:r>
            <a:br/>
            <a:r>
              <a:t>Updated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0" y="4937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Block is appended</a:t>
            </a:r>
            <a:br/>
            <a:r>
              <a:t>to the chain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Inside a Block — Structure &amp;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Each block is a container of transactions, cryptographically linked to form an immutable 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4114800" cy="2926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41148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D0D0D"/>
                </a:solidFill>
                <a:latin typeface="Calibri"/>
              </a:defRPr>
            </a:pPr>
            <a:r>
              <a:t>Block #147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Prev Hash: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ourier New"/>
              </a:defRPr>
            </a:pPr>
            <a:r>
              <a:t>0x00000...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Hash: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926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ourier New"/>
              </a:defRPr>
            </a:pPr>
            <a:r>
              <a:t>0xa3f7c...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200400"/>
            <a:ext cx="3840480" cy="18288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2461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Transactions: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Tx: Alice → Bob 2 ETH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03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Tx: Carol → Dave 0.5 ETH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Nonce: 84329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617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Timestamp: 1693720400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834640"/>
            <a:ext cx="640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CD00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59" y="2194560"/>
            <a:ext cx="4114800" cy="2926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94959" y="2194560"/>
            <a:ext cx="4114800" cy="41148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32119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D0D0D"/>
                </a:solidFill>
                <a:latin typeface="Calibri"/>
              </a:defRPr>
            </a:pPr>
            <a:r>
              <a:t>Block #148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19" y="2697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CD00"/>
                </a:solidFill>
                <a:latin typeface="Calibri"/>
              </a:defRPr>
            </a:pPr>
            <a:r>
              <a:t>Prev Hash: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999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ourier New"/>
              </a:defRPr>
            </a:pPr>
            <a:r>
              <a:t>0xa3f7c...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19" y="2926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CD00"/>
                </a:solidFill>
                <a:latin typeface="Calibri"/>
              </a:defRPr>
            </a:pPr>
            <a:r>
              <a:t>Hash: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7999" y="2926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ourier New"/>
              </a:defRPr>
            </a:pPr>
            <a:r>
              <a:t>0xd91b2...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32119" y="3200400"/>
            <a:ext cx="3840480" cy="18288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32119" y="32461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D00"/>
                </a:solidFill>
                <a:latin typeface="Calibri"/>
              </a:defRPr>
            </a:pPr>
            <a:r>
              <a:t>Transactions: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9" y="3474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Tx: Eve → Frank 1.2 ETH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79" y="3703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Tx: Grace → Hank 3 ETH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3931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Tx: Ivy → Jack 0.8 ETH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19" y="4617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Nonce: 84346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59" y="4617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Timestamp: 1693721400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79" y="2834640"/>
            <a:ext cx="640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CD00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2194560"/>
            <a:ext cx="4114800" cy="2926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058400" y="2194560"/>
            <a:ext cx="4114800" cy="4114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95560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D0D0D"/>
                </a:solidFill>
                <a:latin typeface="Calibri"/>
              </a:defRPr>
            </a:pPr>
            <a:r>
              <a:t>Block #149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2697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Prev Hash: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2697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ourier New"/>
              </a:defRPr>
            </a:pPr>
            <a:r>
              <a:t>0xd91b2...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2926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Calibri"/>
              </a:defRPr>
            </a:pPr>
            <a:r>
              <a:t>Hash: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2926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ourier New"/>
              </a:defRPr>
            </a:pPr>
            <a:r>
              <a:t>0xf48e1...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95560" y="3200400"/>
            <a:ext cx="3840480" cy="18288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95560" y="32461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Transactions: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3474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Tx: Kim → Leo 5 ETH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3703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Tx: Mia → Nick 1 ETH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5560" y="4617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Nonce: 84363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44400" y="4617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Timestamp: 1693722400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303520"/>
            <a:ext cx="13716000" cy="26517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5394960"/>
            <a:ext cx="1280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rPr dirty="0"/>
              <a:t>Block Structure Breakdown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852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Calibri"/>
              </a:defRPr>
            </a:pPr>
            <a:r>
              <a:t>Block Header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1264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Metadata about the block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64008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→  Block Number — position in the chain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66568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→  Timestamp — when the block was created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691286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→  Previous Block Hash — link to parent block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716889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→  Merkle Root — hash of all transactions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742492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→  Nonce — value for PoW puzzle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49240" y="5852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Block Body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9240" y="61264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The actual payload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0" y="64008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→  Transaction List — all validated txns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0" y="66568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→  Each tx: sender, receiver, value, gas, sig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0" y="691286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→  Ordered by the block producer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66960" y="5852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State Root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61264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World state snapshot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04120" y="64008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→  Hash of all account balances &amp; storage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04120" y="66568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→  Allows anyone to verify full chain state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691286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→  Updated by every transaction in the block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1188720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rPr dirty="0"/>
              <a:t>Decentralization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8346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No single point of control or failure. Power is distributed across all participants in the network.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023360"/>
            <a:ext cx="1188720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44805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🗳️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t>Consensus Mechanisms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7548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Protocols (PoW, PoS, BFT) that allow nodes to agree on the state of the ledger without a central coordinator.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943600"/>
            <a:ext cx="1188720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6400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t>Immutability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66751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Once data is confirmed on-chain, it becomes practically impossible to alter — ensuring a tamper-proof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are Smart Contracts?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Calibri"/>
              </a:defRPr>
            </a:pPr>
            <a:r>
              <a:t>Self-executing programs stored on the blockchain that automatically enforce the terms of an agreement when predefined conditions are met.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5486400" cy="3657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rPr dirty="0"/>
              <a:t>Traditional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•  Requires intermediaries (lawyers, banks)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983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•  Manual enforcement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•  Slow &amp; expensive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6172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•  Prone to disputes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474720"/>
            <a:ext cx="5486400" cy="3657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365760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rPr dirty="0"/>
              <a:t>Smart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•  Code is the intermediary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983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•  Automatic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•  Fast &amp; cost-efficient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172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•  Deterministic outcomes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Smart Contract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D00"/>
                </a:solidFill>
                <a:latin typeface="Calibri"/>
              </a:defRPr>
            </a:pPr>
            <a:r>
              <a:t>DeFi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657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Lending, borrowing, DEXs,</a:t>
            </a:r>
            <a:br/>
            <a:r>
              <a:t>yield farming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28600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0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D00"/>
                </a:solidFill>
                <a:latin typeface="Calibri"/>
              </a:defRPr>
            </a:pPr>
            <a:r>
              <a:t>NFTs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657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Digital ownership, royalties,</a:t>
            </a:r>
            <a:br/>
            <a:r>
              <a:t>provenance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28600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0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D00"/>
                </a:solidFill>
                <a:latin typeface="Calibri"/>
              </a:defRPr>
            </a:pPr>
            <a:r>
              <a:t>DAOs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657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Decentralized governance</a:t>
            </a:r>
            <a:br/>
            <a:r>
              <a:t>and treasury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2120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0" y="5394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6035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D00"/>
                </a:solidFill>
                <a:latin typeface="Calibri"/>
              </a:defRPr>
            </a:pPr>
            <a:r>
              <a:t>Gaming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6583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In-game assets, play-to-earn,</a:t>
            </a:r>
            <a:br/>
            <a:r>
              <a:t>interoperable items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52120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5394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6035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D00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6583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Track goods from origin</a:t>
            </a:r>
            <a:br/>
            <a:r>
              <a:t>to delivery transparently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52120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0" y="5394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6035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D00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6583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Self-sovereign identity</a:t>
            </a:r>
            <a:br/>
            <a:r>
              <a:t>and verifiable credentials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Movement?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Calibri"/>
              </a:defRPr>
            </a:pPr>
            <a:r>
              <a:t>Movement is a network of Move-based blockchains enabling the most secure and performant smart contract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5760720" cy="1920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CD00"/>
                </a:solidFill>
                <a:latin typeface="Calibri"/>
              </a:defRPr>
            </a:pPr>
            <a:r>
              <a:t>Move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8862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Built on Move — a safe, resource-oriented language designed to prevent common smart contract vulnerabilities.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200400"/>
            <a:ext cx="5760720" cy="1920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CD00"/>
                </a:solidFill>
                <a:latin typeface="Calibri"/>
              </a:defRPr>
            </a:pPr>
            <a:r>
              <a:t>High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8862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Parallel execution and optimistic concurrency deliver industry-leading throughput and low latency.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394960"/>
            <a:ext cx="5760720" cy="1920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557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577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CD00"/>
                </a:solidFill>
                <a:latin typeface="Calibri"/>
              </a:defRPr>
            </a:pPr>
            <a:r>
              <a:t>Security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60807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Formal verification and Move's type system eliminate entire classes of exploits by design.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5394960"/>
            <a:ext cx="5760720" cy="1920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557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577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CD00"/>
                </a:solidFill>
                <a:latin typeface="Calibri"/>
              </a:defRPr>
            </a:pPr>
            <a:r>
              <a:t>Modular &amp; Interoperable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60807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Composable architecture that connects seamlessly with Ethereum and the broader ecosystem.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Getting Started with Movement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11887200" cy="960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Install the Movement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06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curl -sSf https://cli.movementlabs.xyz | 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246120"/>
            <a:ext cx="11887200" cy="960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3337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Initialize Your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749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movement init --network testnet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389120"/>
            <a:ext cx="11887200" cy="960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4480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Write Your First Move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892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Define resources and entry functions in Move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532120"/>
            <a:ext cx="11887200" cy="960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5623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Compile &amp;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6035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movement move compile &amp;&amp; movement move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6675120"/>
            <a:ext cx="11887200" cy="960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6766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6766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Deploy to Testnet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7178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movement move publish --network testnet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Let's discuss!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4754880"/>
            <a:ext cx="182880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movementlabs.xyz  •  docs.movementlabs.xyz  •  @MovementLabsXYZ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Calibri"/>
              </a:defRPr>
            </a:pPr>
            <a:r>
              <a:t>[Your Name]  •  [your@email.com]  •  Developer Relations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805</Words>
  <Application>Microsoft Macintosh PowerPoint</Application>
  <PresentationFormat>Custom</PresentationFormat>
  <Paragraphs>183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316316</cp:lastModifiedBy>
  <cp:revision>9</cp:revision>
  <dcterms:created xsi:type="dcterms:W3CDTF">2013-01-27T09:14:16Z</dcterms:created>
  <dcterms:modified xsi:type="dcterms:W3CDTF">2026-02-16T11:06:25Z</dcterms:modified>
  <cp:category/>
</cp:coreProperties>
</file>