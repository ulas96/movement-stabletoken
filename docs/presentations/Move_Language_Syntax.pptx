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The Move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CD00"/>
                </a:solidFill>
                <a:latin typeface="Calibri"/>
              </a:defRPr>
            </a:pPr>
            <a:r>
              <a:t>Syntax, Concepts &amp; Patterns — A Complete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023360"/>
            <a:ext cx="182880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Movement Network  |  Developer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[Your Name]  •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920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Why Move? — Design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042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3042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Modules &amp; Addresses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8833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8833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Primitive Types &amp; 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723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723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Structs &amp; 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5643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456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Functions — Entry, Public, Private,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References &amp; Ownership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245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245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Generics &amp; Type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085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6085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Control Flow — if, while,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9262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9926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Error Handling — abort &amp; assert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766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3766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Resources &amp; the Global Storage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60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14476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61447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Unit Testing in 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5288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5288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Design Patterns &amp; Best Practices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91286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69128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Movement-Specific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72969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7296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Move? — Design Philosophy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Originally created by Meta (Diem). Purpose-built for safe, verifiable smart contract development.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017520"/>
            <a:ext cx="292608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CD00"/>
                </a:solidFill>
                <a:latin typeface="Calibri"/>
              </a:defRPr>
            </a:pPr>
            <a:r>
              <a:t>Resource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Digital assets are linear types —</a:t>
            </a:r>
            <a:br/>
            <a:r>
              <a:t>they can't be copied or implicitly</a:t>
            </a:r>
            <a:br/>
            <a:r>
              <a:t>dropped. No double-spend by design.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017520"/>
            <a:ext cx="292608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B4D8"/>
                </a:solidFill>
                <a:latin typeface="Calibri"/>
              </a:defRPr>
            </a:pPr>
            <a:r>
              <a:t>Formal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3891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Built-in spec language and prover</a:t>
            </a:r>
            <a:br/>
            <a:r>
              <a:t>let you mathematically prove</a:t>
            </a:r>
            <a:br/>
            <a:r>
              <a:t>your code is correct.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017520"/>
            <a:ext cx="292608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E676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43891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Static dispatch, no dynamic calls,</a:t>
            </a:r>
            <a:br/>
            <a:r>
              <a:t>predictable gas — ideal for</a:t>
            </a:r>
            <a:br/>
            <a:r>
              <a:t>high-throughput chains.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3017520"/>
            <a:ext cx="292608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3200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  <a:latin typeface="Calibri"/>
              </a:defRPr>
            </a:pPr>
            <a:r>
              <a:t>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3840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B86FC"/>
                </a:solidFill>
                <a:latin typeface="Calibri"/>
              </a:defRPr>
            </a:pPr>
            <a:r>
              <a:t>Modularity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438912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Clean module system with explicit</a:t>
            </a:r>
            <a:br/>
            <a:r>
              <a:t>dependencies and fine-grained</a:t>
            </a:r>
            <a:br/>
            <a:r>
              <a:t>access control.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71323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Move vs Solidity:  No reentrancy  •  No overflow bugs  •  No unchecked external calls  •  Resources &gt; raw integers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Modules &amp; Addresses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Modules are the building blocks of Move programs — deployed to an address on-chain.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Modules live at a specific address (e.g. 0x1)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Fully qualified: address::module_name::function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Each module has its own namespace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use statements import modules/types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friend modules get special access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Named addresses map names to hex (e.g. std = 0x1)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One file can contain multiple modules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Modules are published atomically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743200"/>
            <a:ext cx="594360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Module 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004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// Named address in Move.toml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// my_addr = "0xCAFE"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module my_addr::marketplace {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    use std::string::String;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    use aptos_framework::coin;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    use aptos_framework::event;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    friend my_addr::admin;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    // Module contents here...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    // structs, functions, consts</a:t>
            </a:r>
          </a:p>
          <a:p>
            <a:pPr>
              <a:spcAft>
                <a:spcPts val="100"/>
              </a:spcAft>
              <a:defRPr sz="12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Primitive Types &amp;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5669280" cy="53035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Built-in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ourier New"/>
              </a:defRPr>
            </a:pPr>
            <a:r>
              <a:t>bool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true /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ourier New"/>
              </a:defRPr>
            </a:pPr>
            <a:r>
              <a:t>u8, u16, u32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2186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Unsigned integers (8/16/32-bit)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6027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ourier New"/>
              </a:defRPr>
            </a:pPr>
            <a:r>
              <a:t>u64, u128, u256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6027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Unsigned integers (64/128/256-bit)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ourier New"/>
              </a:defRPr>
            </a:pPr>
            <a:r>
              <a:t>address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9867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32-byte account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370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ourier New"/>
              </a:defRPr>
            </a:pPr>
            <a:r>
              <a:t>vector&lt;T&gt;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37083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Dynamic array of type 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754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FF"/>
                </a:solidFill>
                <a:latin typeface="Courier New"/>
              </a:defRPr>
            </a:pPr>
            <a:r>
              <a:t>&amp;T / &amp;mut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754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Immutable / mutable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138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79C6"/>
                </a:solidFill>
                <a:latin typeface="Courier New"/>
              </a:defRPr>
            </a:pPr>
            <a:r>
              <a:t>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51389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Represents a transaction signer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5229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79C6"/>
                </a:solidFill>
                <a:latin typeface="Courier New"/>
              </a:defRPr>
            </a:pPr>
            <a:r>
              <a:t>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5229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UTF-8 string (from std lib)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6400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A500"/>
                </a:solidFill>
                <a:latin typeface="Calibri"/>
              </a:defRPr>
            </a:pPr>
            <a:r>
              <a:t>⚠️  No signed integers, no floats,</a:t>
            </a:r>
            <a:br/>
            <a:r>
              <a:t>     no null — by design!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2103120"/>
            <a:ext cx="5943600" cy="53035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Variables &amp; Constants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51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Constants (module-level only)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const MAX_SUPPLY: u64 = 1000000;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const E_NOT_FOUND: u64 = 1;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Variables (let binding)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x: u64 = 42;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y = 100u128;  // type inferred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Mutable variables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mut count = 0;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count = count + 1;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Destructuring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(a, b) = (10, 20);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Shadowing is allowed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x = x + 1;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Type casting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big = (x as u128);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Structs &amp; 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Structs are custom types. Abilities control what you can do with them — this is Move's superpower.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The Four 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383280"/>
            <a:ext cx="5120640" cy="73152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429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Courier New"/>
              </a:defRPr>
            </a:pPr>
            <a:r>
              <a:t>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290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Can be duplicated (value semantics)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251960"/>
            <a:ext cx="5120640" cy="73152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4297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ourier New"/>
              </a:defRPr>
            </a:pPr>
            <a:r>
              <a:t>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Can be implicitly discarded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5120640"/>
            <a:ext cx="5120640" cy="73152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166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ourier New"/>
              </a:defRPr>
            </a:pPr>
            <a:r>
              <a:t>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166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Can be stored inside other structs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989320"/>
            <a:ext cx="5120640" cy="73152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6035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B86FC"/>
                </a:solidFill>
                <a:latin typeface="Courier New"/>
              </a:defRPr>
            </a:pPr>
            <a:r>
              <a:t>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035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Can be stored directly in global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903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A500"/>
                </a:solidFill>
                <a:latin typeface="Calibri"/>
              </a:defRPr>
            </a:pPr>
            <a:r>
              <a:t>💡 No abilities = resource type</a:t>
            </a:r>
            <a:br/>
            <a:r>
              <a:t>    (can't copy, can't drop — must be explicitly consumed)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743200"/>
            <a:ext cx="594360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Struct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004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Simple copyable struct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struct Point has copy, drop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x: u64,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y: u64,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Resource — cannot copy or drop!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struct NFT has key, store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id: u64,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name: String,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uri: String,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Token with all abilities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struct CoinInfo has key, store,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                 copy, drop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symbol: String,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decimals: u8,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Functions — Visibility &amp;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29260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ourier New"/>
              </a:defRPr>
            </a:pPr>
            <a:r>
              <a:t>public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Callable by</a:t>
            </a:r>
            <a:br/>
            <a:r>
              <a:t>anyone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Any module or</a:t>
            </a:r>
            <a:br/>
            <a:r>
              <a:t>transaction 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29260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  <a:latin typeface="Courier New"/>
              </a:defRPr>
            </a:pPr>
            <a:r>
              <a:t>public(friend)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Friend-only</a:t>
            </a:r>
            <a:br/>
            <a:r>
              <a:t>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Only modules declared</a:t>
            </a:r>
            <a:br/>
            <a:r>
              <a:t>as friends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103120"/>
            <a:ext cx="29260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D00"/>
                </a:solidFill>
                <a:latin typeface="Courier New"/>
              </a:defRPr>
            </a:pPr>
            <a:r>
              <a:t>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Transaction</a:t>
            </a:r>
            <a:br/>
            <a:r>
              <a:t>entry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Can be called</a:t>
            </a:r>
            <a:br/>
            <a:r>
              <a:t>directly from a tx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0" y="2103120"/>
            <a:ext cx="2926080" cy="20116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BBBBB"/>
                </a:solidFill>
                <a:latin typeface="Courier New"/>
              </a:defRPr>
            </a:pPr>
            <a:r>
              <a:t>(private)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2606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Module</a:t>
            </a:r>
            <a:br/>
            <a:r>
              <a:t>internal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32461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Default — only within</a:t>
            </a:r>
            <a:br/>
            <a:r>
              <a:t>the same module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389120"/>
            <a:ext cx="6217920" cy="329184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Function Signatures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5488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Entry function (callable from tx)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public entry fun transfer(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sender: &amp;signer,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to: address,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amount: u64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) { ... }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View function (read-only)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#[view]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public fun get_balance(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addr: address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): u64 { ... 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4389120"/>
            <a:ext cx="5943600" cy="329184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434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Return Values &amp; Tuples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75488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Single return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fun square(x: u64): u64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x * x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Multiple returns (tuple)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fun swap(a: u64, b: u64):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    (u64, u64)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(b, a)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Destructure return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(x, y) = swap(1, 2);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References &amp;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Move uses a borrow-checker model (like Rust) — ensuring memory safety at compile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Ownership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383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Move Semantics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6576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Values are moved by default — original</a:t>
            </a:r>
            <a:br/>
            <a:r>
              <a:t>binding becomes invalid after 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434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Immutable Ref  &amp;T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709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Read-only access. Multiple allowed</a:t>
            </a:r>
            <a:br/>
            <a:r>
              <a:t>at the same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Calibri"/>
              </a:defRPr>
            </a:pPr>
            <a:r>
              <a:t>Mutable Ref  &amp;mut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5760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Read-write access. Only ONE at a</a:t>
            </a:r>
            <a:br/>
            <a:r>
              <a:t>time (exclusive access).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6537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/>
              </a:defRPr>
            </a:pPr>
            <a:r>
              <a:t>No Dangling Refs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68122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References cannot outlive the</a:t>
            </a:r>
            <a:br/>
            <a:r>
              <a:t>value they point 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743200"/>
            <a:ext cx="594360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004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Move semantics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nft = create_nft();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transfer(nft); // nft is MOVED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nft is invalid here!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Immutable borrow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ref = &amp;my_struct;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val = ref.balance; // read ok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Mutable borrow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mut_ref = &amp;mut my_struct;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mut_ref.balance = 100; // write ok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This would NOT compile: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let r1 = &amp;mut x;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let r2 = &amp;mut x; // ERROR!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(can't have 2 mut refs)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Generics &amp; Type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Write code once, use with any type — with ability constraints for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How Generics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Type parameters use &lt;T&gt; syntax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Phantom types: exists in type but not in fields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Ability constraints: T: copy + drop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Multiple type params: &lt;K, V&gt;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Compiler monomorphizes (generates concrete types)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Type params resolved at compile time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Used heavily in coin/token standards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743200"/>
            <a:ext cx="594360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Generic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004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Generic struct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struct Coin&lt;phantom CoinType&gt;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has key, store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value: u64,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Generic function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public fun transfer&lt;T: key + store&gt;(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from: &amp;signer,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to: address,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item: T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) { ... }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Usage with concrete type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coin = Coin&lt;MOVE&gt; { value: 100 };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transfer&lt;NFT&gt;(signer, addr, my_nft);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Control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Move supports if/else, while, loop, and for — all are expressions that can return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429768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if / else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if is an expression!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max = if (a &gt; b)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a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 else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b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Conditional logic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if (balance &gt;= amount)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withdraw(amount);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 else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abort E_INSUFFICIENT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743200"/>
            <a:ext cx="429768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while &amp;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2004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while loop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mut i = 0;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while (i &lt; 10)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process(i);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i = i + 1;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infinite loop + break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loop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if (done()) break;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do_work();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743200"/>
            <a:ext cx="429768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0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for &amp; expressions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32004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for-each (Move 2.0)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for (item in &amp;items)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process(item);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Range-based for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for (i in 0..len)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vector::push_back(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    &amp;mut v, i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// loop returns a value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let x = loop {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    if (ok) break 42;</a:t>
            </a:r>
          </a:p>
          <a:p>
            <a:pPr>
              <a:spcAft>
                <a:spcPts val="100"/>
              </a:spcAft>
              <a:defRPr sz="1100">
                <a:solidFill>
                  <a:srgbClr val="00E676"/>
                </a:solidFill>
                <a:latin typeface="Courier New"/>
              </a:defRPr>
            </a:pPr>
            <a:r>
              <a:t>};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Error Handling — abort &amp; assert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Move uses abort codes instead of exceptions — simple, gas-efficient, and explicit.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Error Handling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abort &lt;code&gt; — immediately stops execution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assert!(condition, code) — abort if false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Error codes are u64 integers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Convention: const E_ERROR_NAME: u64 = N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No try/catch — transactions are atomic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Failed tx is rolled back entirely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Off-chain clients parse the abort code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Use descriptive constant names for clarity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743200"/>
            <a:ext cx="594360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004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// Define error constants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const E_NOT_OWNER: u64 = 1;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const E_INSUFFICIENT: u64 = 2;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const E_ALREADY_EXISTS: u64 = 3;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// assert! macro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public entry fun withdraw(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account: &amp;signer,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amount: u64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)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let bal = get_balance(account);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assert!(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bal &gt;= amount,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E_INSUFFICIENT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// safe to proceed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// Direct abort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if (!is_owner) abort E_NOT_OWNER;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Resources &amp; Global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Resources live in global storage under an account's address — the core of Move's data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  <a:latin typeface="Courier New"/>
              </a:defRPr>
            </a:pPr>
            <a:r>
              <a:t>move_to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Store resource</a:t>
            </a:r>
            <a:br/>
            <a:r>
              <a:t>under signer's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E676"/>
                </a:solidFill>
                <a:latin typeface="Courier New"/>
              </a:defRPr>
            </a:pPr>
            <a:r>
              <a:t>move_to&lt;T&gt;(&amp;signer, 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7432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Courier New"/>
              </a:defRPr>
            </a:pPr>
            <a:r>
              <a:t>move_from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Remove resource</a:t>
            </a:r>
            <a:br/>
            <a:r>
              <a:t>from an address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A500"/>
                </a:solidFill>
                <a:latin typeface="Courier New"/>
              </a:defRPr>
            </a:pPr>
            <a:r>
              <a:t>move_from&lt;T&gt;(addr): 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4D8"/>
                </a:solidFill>
                <a:latin typeface="Courier New"/>
              </a:defRPr>
            </a:pPr>
            <a:r>
              <a:t>borrow_global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Immutable reference</a:t>
            </a:r>
            <a:br/>
            <a:r>
              <a:t>to stored resource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B4D8"/>
                </a:solidFill>
                <a:latin typeface="Courier New"/>
              </a:defRPr>
            </a:pPr>
            <a:r>
              <a:t>borrow_global&lt;T&gt;(addr): &amp;T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7432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B86FC"/>
                </a:solidFill>
                <a:latin typeface="Courier New"/>
              </a:defRPr>
            </a:pPr>
            <a:r>
              <a:t>borrow_global_mut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Mutable reference</a:t>
            </a:r>
            <a:br/>
            <a:r>
              <a:t>to stored resource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86FC"/>
                </a:solidFill>
                <a:latin typeface="Courier New"/>
              </a:defRPr>
            </a:pPr>
            <a:r>
              <a:t>borrow_global_mut&lt;T&gt;(addr): &amp;mut 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0" y="27432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2436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D00"/>
                </a:solidFill>
                <a:latin typeface="Courier New"/>
              </a:defRPr>
            </a:pPr>
            <a:r>
              <a:t>exists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2436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Check if resource</a:t>
            </a:r>
            <a:br/>
            <a:r>
              <a:t>exists at address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2436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CD00"/>
                </a:solidFill>
                <a:latin typeface="Courier New"/>
              </a:defRPr>
            </a:pPr>
            <a:r>
              <a:t>exists&lt;T&gt;(addr): bool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120640"/>
            <a:ext cx="12435840" cy="274320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166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Complete Example — Resource CRUD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4864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struct Vault has key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balance: u64,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owner: address,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// Create (store under account)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public entry fun create_vault(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account: &amp;signer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)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let addr = signer::address_of(account);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assert!(!exists&lt;Vault&gt;(addr), E_EXISTS);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move_to(account, Vault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balance: 0, owner: addr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});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486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// Read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public fun get_balance(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addr: address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): u64 acquires Vault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borrow_global&lt;Vault&gt;(addr).balance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// Update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public entry fun deposit(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addr: address, amount: u64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) acquires Vault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let vault =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borrow_global_mut&lt;Vault&gt;(addr);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vault.balance = vault.balance + amount;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Events emit on-chain logs that off-chain applications (indexers, frontends) can listen 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Event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Events are structs with drop + store abilities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Emitted using event::emit() (Move v2)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Legacy: EventHandle with emit_event()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Indexed by type — queryable via API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Not stored in global storage (logs only)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Essential for frontend / indexer integration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Zero gas overhead for unused events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Include all relevant data for off-chain 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743200"/>
            <a:ext cx="594360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Event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2004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use aptos_framework::event;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#[event]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struct TransferEvent has drop, store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from: address,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to: address,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amount: u64,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timestamp: u64,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public entry fun transfer(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sender: &amp;signer,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to: address,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amount: u64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)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// ... transfer logic ...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event::emit(TransferEvent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from: signer::address_of(sender),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to, amount,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timestamp: timestamp::now_seconds()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});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Unit Testing in Move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Move has built-in test support — write tests alongside your code, run with `movement move test`.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Test Annotations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429000"/>
            <a:ext cx="5120640" cy="64008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  <a:latin typeface="Courier New"/>
              </a:defRPr>
            </a:pPr>
            <a:r>
              <a:t>#[test]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703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Marks a function as a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206240"/>
            <a:ext cx="5120640" cy="64008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4251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ourier New"/>
              </a:defRPr>
            </a:pPr>
            <a:r>
              <a:t>#[test(account = @0x1)]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Inject signer for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4983480"/>
            <a:ext cx="5120640" cy="64008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Courier New"/>
              </a:defRPr>
            </a:pPr>
            <a:r>
              <a:t>#[expected_failure]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Test should abort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45920" y="5760720"/>
            <a:ext cx="5120640" cy="640080"/>
          </a:xfrm>
          <a:prstGeom prst="roundRect">
            <a:avLst/>
          </a:prstGeom>
          <a:solidFill>
            <a:srgbClr val="15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  <a:latin typeface="Courier New"/>
              </a:defRPr>
            </a:pPr>
            <a:r>
              <a:t>#[test_only]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6035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Code only for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675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  <a:latin typeface="Courier New"/>
              </a:defRPr>
            </a:pPr>
            <a:r>
              <a:t>Run:  movement move test</a:t>
            </a:r>
            <a:br/>
            <a:r>
              <a:t>       movement move test --filter vault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743200"/>
            <a:ext cx="5943600" cy="484632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D00"/>
                </a:solidFill>
                <a:latin typeface="Calibri"/>
              </a:defRPr>
            </a:pPr>
            <a:r>
              <a:t>Test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2004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#[test(creator = @my_addr)]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fun test_create_vault(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creator: &amp;signer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)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create_vault(creator);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let addr = signer::address_of(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creator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assert!(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exists&lt;Vault&gt;(addr), 0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assert!(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    get_balance(addr) == 0, 1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#[test]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#[expected_failure(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abort_code = E_INSUFFICIENT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)]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fun test_overdraw() { ...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Design Patterns &amp;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7132320" cy="1783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CD00"/>
                </a:solidFill>
                <a:latin typeface="Calibri"/>
              </a:defRPr>
            </a:pPr>
            <a:r>
              <a:t>Capability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6032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Use structs as permission tokens. Holding a</a:t>
            </a:r>
            <a:br/>
            <a:r>
              <a:t>capability struct = having permission to act.</a:t>
            </a:r>
            <a:br/>
            <a:r>
              <a:t>No capability = no access. Checked at compile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03120"/>
            <a:ext cx="5760720" cy="178308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24028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struct AdminCap has key, store {}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public fun admin_action(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_cap: &amp;AdminCap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) { ... 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79"/>
            <a:ext cx="7132320" cy="1783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1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60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CD00"/>
                </a:solidFill>
                <a:latin typeface="Calibri"/>
              </a:defRPr>
            </a:pPr>
            <a:r>
              <a:t>Coin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526279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Wrap value in a generic struct with phantom type.</a:t>
            </a:r>
            <a:br/>
            <a:r>
              <a:t>Different coins = different types. Compiler prevents</a:t>
            </a:r>
            <a:br/>
            <a:r>
              <a:t>mixing USDC with ETH at compile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069079"/>
            <a:ext cx="5760720" cy="178308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206239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struct Coin&lt;phantom T&gt; has store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value: u64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fun merge&lt;T&gt;(c1: Coin&lt;T&gt;,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c2: Coin&lt;T&gt;): Coin&lt;T&gt;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35040"/>
            <a:ext cx="7132320" cy="1783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6126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6126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CD00"/>
                </a:solidFill>
                <a:latin typeface="Calibri"/>
              </a:defRPr>
            </a:pPr>
            <a:r>
              <a:t>Witness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649224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Use a one-time struct to prove module identity.</a:t>
            </a:r>
            <a:br/>
            <a:r>
              <a:t>Only the defining module can create the witness.</a:t>
            </a:r>
            <a:br/>
            <a:r>
              <a:t>Used for type-safe initialization.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6035040"/>
            <a:ext cx="5760720" cy="1783080"/>
          </a:xfrm>
          <a:prstGeom prst="round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617220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struct WITNESS has drop {}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public fun init(w: WITNESS) {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// Only callable by module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    // that creates WITNESS</a:t>
            </a:r>
          </a:p>
          <a:p>
            <a:pPr>
              <a:spcAft>
                <a:spcPts val="100"/>
              </a:spcAft>
              <a:defRPr sz="1000">
                <a:solidFill>
                  <a:srgbClr val="00E676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Movement-Specific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109728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BB"/>
                </a:solidFill>
                <a:latin typeface="Calibri"/>
              </a:defRPr>
            </a:pPr>
            <a:r>
              <a:t>Building on Movement gives you extra capabilities beyond standard Move.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566928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Movement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Fractal — EVM compatibility layer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Parallel transaction execution (Block-STM)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Sub-second finality for real-time dApps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Shared sequencer for cross-chain composability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Native randomness module for on-chain RNG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Object model for complex NFTs &amp; gaming</a:t>
            </a:r>
          </a:p>
          <a:p>
            <a:pPr>
              <a:spcAft>
                <a:spcPts val="400"/>
              </a:spcAft>
              <a:defRPr sz="1300">
                <a:solidFill>
                  <a:srgbClr val="BBBBBB"/>
                </a:solidFill>
                <a:latin typeface="Calibri"/>
              </a:defRPr>
            </a:pPr>
            <a:r>
              <a:t>•  Optimistic concurrency for max throughput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743200"/>
            <a:ext cx="5943600" cy="48463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D00"/>
                </a:solidFill>
                <a:latin typeface="Calibri"/>
              </a:defRPr>
            </a:pPr>
            <a:r>
              <a:t>Developer 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4290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429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docs.movementlabs.xyz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curl -sSf https://cli.movementlabs.xyz | 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709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709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Testnet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4709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Faucet at faucet.movementlabs.xyz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349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349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5349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discord.gg/movementlabsxyz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59893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989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5989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github.com/movementlabsxyz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758952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E676"/>
                </a:solidFill>
                <a:latin typeface="Courier New"/>
              </a:defRPr>
            </a:pPr>
            <a:r>
              <a:t>movement init → movement move compile → movement move test → movement move publish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54864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D00"/>
                </a:solidFill>
                <a:latin typeface="Calibri"/>
              </a:defRPr>
            </a:pPr>
            <a:r>
              <a:t>Let's write some Move!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4754880"/>
            <a:ext cx="1828800" cy="36576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movementlabs.xyz  •  docs.movementlabs.xyz  •  @MovementLabsXYZ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BB"/>
                </a:solidFill>
                <a:latin typeface="Calibri"/>
              </a:defRPr>
            </a:pPr>
            <a:r>
              <a:t>[Your Name]  •  [your@email.com]  •  Developer Relations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