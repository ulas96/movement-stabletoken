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7" r:id="rId10"/>
    <p:sldId id="271" r:id="rId11"/>
    <p:sldId id="264" r:id="rId12"/>
    <p:sldId id="265" r:id="rId13"/>
    <p:sldId id="266" r:id="rId14"/>
    <p:sldId id="268" r:id="rId15"/>
    <p:sldId id="269" r:id="rId16"/>
    <p:sldId id="270" r:id="rId17"/>
  </p:sldIdLst>
  <p:sldSz cx="14630400" cy="82296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94"/>
  </p:normalViewPr>
  <p:slideViewPr>
    <p:cSldViewPr snapToGrid="0" snapToObjects="1">
      <p:cViewPr varScale="1">
        <p:scale>
          <a:sx n="101" d="100"/>
          <a:sy n="101" d="100"/>
        </p:scale>
        <p:origin x="776" y="1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00" cy="54864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371600" y="2011680"/>
            <a:ext cx="11887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>
                <a:solidFill>
                  <a:srgbClr val="FFFFFF"/>
                </a:solidFill>
                <a:latin typeface="Calibri"/>
              </a:defRPr>
            </a:pPr>
            <a:r>
              <a:t>Smart Contracts &amp; DeFi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291840"/>
            <a:ext cx="11887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FFCD00"/>
                </a:solidFill>
                <a:latin typeface="Calibri"/>
              </a:defRPr>
            </a:pPr>
            <a:r>
              <a:t>A Deep Dive into Programmable Finance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4389120"/>
            <a:ext cx="1828800" cy="36576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371600" y="4754880"/>
            <a:ext cx="9144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BBBBBB"/>
                </a:solidFill>
                <a:latin typeface="Calibri"/>
              </a:defRPr>
            </a:pPr>
            <a:r>
              <a:rPr dirty="0"/>
              <a:t>Movement Network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5303520"/>
            <a:ext cx="9144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BBBBB"/>
                </a:solidFill>
                <a:latin typeface="Calibri"/>
              </a:defRPr>
            </a:pPr>
            <a:r>
              <a:rPr lang="en-US" dirty="0"/>
              <a:t>Ulaş</a:t>
            </a:r>
            <a:r>
              <a:rPr dirty="0"/>
              <a:t>  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00" cy="54864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371600" y="731520"/>
            <a:ext cx="11887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463040"/>
            <a:ext cx="1097280" cy="36576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371600" y="201168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CD00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0" y="2011680"/>
            <a:ext cx="10058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rPr dirty="0"/>
              <a:t>Smart Contracts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487168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CD00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0" y="2487168"/>
            <a:ext cx="10058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rPr lang="en-US" dirty="0"/>
              <a:t>Decentralized Finance</a:t>
            </a:r>
            <a:endParaRPr dirty="0"/>
          </a:p>
        </p:txBody>
      </p:sp>
      <p:sp>
        <p:nvSpPr>
          <p:cNvPr id="9" name="TextBox 8"/>
          <p:cNvSpPr txBox="1"/>
          <p:nvPr/>
        </p:nvSpPr>
        <p:spPr>
          <a:xfrm>
            <a:off x="1371600" y="2962656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CD00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2962656"/>
            <a:ext cx="10058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rPr lang="en-US" dirty="0"/>
              <a:t>Token Standards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3438144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CD00"/>
                </a:solidFill>
                <a:latin typeface="Calibri"/>
              </a:defRPr>
            </a:pPr>
            <a:r>
              <a:t>04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000" y="3438144"/>
            <a:ext cx="10058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rPr lang="en-US" dirty="0"/>
              <a:t>Decentralized Exchanges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913632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CD00"/>
                </a:solidFill>
                <a:latin typeface="Calibri"/>
              </a:defRPr>
            </a:pPr>
            <a:r>
              <a:t>05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86000" y="3913632"/>
            <a:ext cx="10058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rPr lang="en-US" dirty="0" err="1"/>
              <a:t>Stabletokens</a:t>
            </a:r>
            <a:endParaRPr lang="en-US" dirty="0"/>
          </a:p>
        </p:txBody>
      </p:sp>
      <p:sp>
        <p:nvSpPr>
          <p:cNvPr id="15" name="TextBox 14"/>
          <p:cNvSpPr txBox="1"/>
          <p:nvPr/>
        </p:nvSpPr>
        <p:spPr>
          <a:xfrm>
            <a:off x="1371600" y="438912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CD00"/>
                </a:solidFill>
                <a:latin typeface="Calibri"/>
              </a:defRPr>
            </a:pPr>
            <a:r>
              <a:t>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4389120"/>
            <a:ext cx="10058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rPr lang="en-US" dirty="0"/>
              <a:t>Lending &amp; Borrowing</a:t>
            </a:r>
            <a:endParaRPr dirty="0"/>
          </a:p>
        </p:txBody>
      </p:sp>
      <p:sp>
        <p:nvSpPr>
          <p:cNvPr id="17" name="TextBox 16"/>
          <p:cNvSpPr txBox="1"/>
          <p:nvPr/>
        </p:nvSpPr>
        <p:spPr>
          <a:xfrm>
            <a:off x="1371600" y="4864608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CD00"/>
                </a:solidFill>
                <a:latin typeface="Calibri"/>
              </a:defRPr>
            </a:pPr>
            <a:r>
              <a:t>07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6000" y="4864608"/>
            <a:ext cx="10058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rPr lang="en-US" dirty="0"/>
              <a:t>Movement DeFi Ecosystem</a:t>
            </a:r>
            <a:endParaRPr dirty="0"/>
          </a:p>
        </p:txBody>
      </p:sp>
      <p:sp>
        <p:nvSpPr>
          <p:cNvPr id="19" name="TextBox 18"/>
          <p:cNvSpPr txBox="1"/>
          <p:nvPr/>
        </p:nvSpPr>
        <p:spPr>
          <a:xfrm>
            <a:off x="1371600" y="5340096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CD00"/>
                </a:solidFill>
                <a:latin typeface="Calibri"/>
              </a:defRPr>
            </a:pPr>
            <a:r>
              <a:t>08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86000" y="5340096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rPr dirty="0"/>
              <a:t>Q&amp;A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00" cy="54864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371600" y="731520"/>
            <a:ext cx="11887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Smart Contracts — Deep Dive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463040"/>
            <a:ext cx="1097280" cy="36576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371600" y="2011680"/>
            <a:ext cx="11887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BBBBBB"/>
                </a:solidFill>
                <a:latin typeface="Calibri"/>
              </a:defRPr>
            </a:pPr>
            <a:r>
              <a:t>Self-executing code deployed on-chain that enforces agreements without intermediaries.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3200400"/>
            <a:ext cx="2743200" cy="320040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645920" y="347472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FFFFFF"/>
                </a:solidFill>
                <a:latin typeface="Calibri"/>
              </a:defRPr>
            </a:pPr>
            <a:r>
              <a:t>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420624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CD00"/>
                </a:solidFill>
                <a:latin typeface="Calibri"/>
              </a:defRPr>
            </a:pPr>
            <a:r>
              <a:t>Deterministic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4846320"/>
            <a:ext cx="2194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BBBBBB"/>
                </a:solidFill>
                <a:latin typeface="Calibri"/>
              </a:defRPr>
            </a:pPr>
            <a:r>
              <a:t>Same input always</a:t>
            </a:r>
            <a:br/>
            <a:r>
              <a:t>produces same output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60" y="3200400"/>
            <a:ext cx="2743200" cy="320040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754880" y="347472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FFFFFF"/>
                </a:solidFill>
                <a:latin typeface="Calibri"/>
              </a:defRPr>
            </a:pPr>
            <a:r>
              <a:t>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420624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CD00"/>
                </a:solidFill>
                <a:latin typeface="Calibri"/>
              </a:defRPr>
            </a:pPr>
            <a:r>
              <a:t>Transparent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4846320"/>
            <a:ext cx="2194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BBBBBB"/>
                </a:solidFill>
                <a:latin typeface="Calibri"/>
              </a:defRPr>
            </a:pPr>
            <a:r>
              <a:t>Code is publicly</a:t>
            </a:r>
            <a:br/>
            <a:r>
              <a:t>verifiable on-chain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0" y="3200400"/>
            <a:ext cx="2743200" cy="320040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863840" y="347472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FFFFFF"/>
                </a:solidFill>
                <a:latin typeface="Calibri"/>
              </a:defRPr>
            </a:pPr>
            <a:r>
              <a:t>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0" y="420624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CD00"/>
                </a:solidFill>
                <a:latin typeface="Calibri"/>
              </a:defRPr>
            </a:pPr>
            <a:r>
              <a:t>Composable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4846320"/>
            <a:ext cx="2194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BBBBBB"/>
                </a:solidFill>
                <a:latin typeface="Calibri"/>
              </a:defRPr>
            </a:pPr>
            <a:r>
              <a:t>Contracts can call</a:t>
            </a:r>
            <a:br/>
            <a:r>
              <a:t>other contracts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698480" y="3200400"/>
            <a:ext cx="2743200" cy="320040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972800" y="347472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FFFFFF"/>
                </a:solidFill>
                <a:latin typeface="Calibri"/>
              </a:defRPr>
            </a:pPr>
            <a:r>
              <a:t>💎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420624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CD00"/>
                </a:solidFill>
                <a:latin typeface="Calibri"/>
              </a:defRPr>
            </a:pPr>
            <a:r>
              <a:t>Immutable*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4846320"/>
            <a:ext cx="2194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BBBBBB"/>
                </a:solidFill>
                <a:latin typeface="Calibri"/>
              </a:defRPr>
            </a:pPr>
            <a:r>
              <a:t>Once deployed, code</a:t>
            </a:r>
            <a:br/>
            <a:r>
              <a:t>cannot be changed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6858000"/>
            <a:ext cx="1188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BB"/>
                </a:solidFill>
                <a:latin typeface="Calibri"/>
              </a:defRPr>
            </a:pPr>
            <a:r>
              <a:t>*Upgradeable patterns exist (proxy contracts) but the original bytecode is immutable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00" cy="54864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371600" y="731520"/>
            <a:ext cx="11887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Anatomy of a Smart Contract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463040"/>
            <a:ext cx="1097280" cy="36576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1371600" y="2103120"/>
            <a:ext cx="5943600" cy="530352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828800" y="22860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CD00"/>
                </a:solidFill>
                <a:latin typeface="Calibri"/>
              </a:defRPr>
            </a:pPr>
            <a:r>
              <a:t>Core Components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292608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BBBBB"/>
                </a:solidFill>
                <a:latin typeface="Calibri"/>
              </a:defRPr>
            </a:pPr>
            <a:r>
              <a:t>•  State Variables — persistent data stored on-chain</a:t>
            </a:r>
          </a:p>
          <a:p>
            <a:pPr>
              <a:spcAft>
                <a:spcPts val="400"/>
              </a:spcAft>
              <a:defRPr sz="1500">
                <a:solidFill>
                  <a:srgbClr val="BBBBBB"/>
                </a:solidFill>
                <a:latin typeface="Calibri"/>
              </a:defRPr>
            </a:pPr>
            <a:r>
              <a:t>•  Functions — logic that reads/writes state</a:t>
            </a:r>
          </a:p>
          <a:p>
            <a:pPr>
              <a:spcAft>
                <a:spcPts val="400"/>
              </a:spcAft>
              <a:defRPr sz="1500">
                <a:solidFill>
                  <a:srgbClr val="BBBBBB"/>
                </a:solidFill>
                <a:latin typeface="Calibri"/>
              </a:defRPr>
            </a:pPr>
            <a:r>
              <a:t>•  Events — logs emitted for off-chain listeners</a:t>
            </a:r>
          </a:p>
          <a:p>
            <a:pPr>
              <a:spcAft>
                <a:spcPts val="400"/>
              </a:spcAft>
              <a:defRPr sz="1500">
                <a:solidFill>
                  <a:srgbClr val="BBBBBB"/>
                </a:solidFill>
                <a:latin typeface="Calibri"/>
              </a:defRPr>
            </a:pPr>
            <a:r>
              <a:t>•  Modifiers — access control &amp; validation guards</a:t>
            </a:r>
          </a:p>
          <a:p>
            <a:pPr>
              <a:spcAft>
                <a:spcPts val="400"/>
              </a:spcAft>
              <a:defRPr sz="1500">
                <a:solidFill>
                  <a:srgbClr val="BBBBBB"/>
                </a:solidFill>
                <a:latin typeface="Calibri"/>
              </a:defRPr>
            </a:pPr>
            <a:r>
              <a:t>•  Constructor — one-time initialization on deploy</a:t>
            </a:r>
          </a:p>
          <a:p>
            <a:pPr>
              <a:spcAft>
                <a:spcPts val="400"/>
              </a:spcAft>
              <a:defRPr sz="1500">
                <a:solidFill>
                  <a:srgbClr val="BBBBBB"/>
                </a:solidFill>
                <a:latin typeface="Calibri"/>
              </a:defRPr>
            </a:pPr>
            <a:r>
              <a:t>•  Fallback/Receive — handle unexpected calls &amp; ETH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0" y="2103120"/>
            <a:ext cx="5943600" cy="5303520"/>
          </a:xfrm>
          <a:prstGeom prst="roundRect">
            <a:avLst/>
          </a:prstGeom>
          <a:solidFill>
            <a:srgbClr val="12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0" y="22860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CD00"/>
                </a:solidFill>
                <a:latin typeface="Calibri"/>
              </a:defRPr>
            </a:pPr>
            <a:r>
              <a:t>Example Structure (Move)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292608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00E676"/>
                </a:solidFill>
                <a:latin typeface="Courier New"/>
              </a:defRPr>
            </a:pPr>
            <a:r>
              <a:t>module my_addr::token {</a:t>
            </a:r>
          </a:p>
          <a:p>
            <a:pPr>
              <a:spcAft>
                <a:spcPts val="100"/>
              </a:spcAft>
              <a:defRPr sz="1300">
                <a:solidFill>
                  <a:srgbClr val="00E676"/>
                </a:solidFill>
                <a:latin typeface="Courier New"/>
              </a:defRPr>
            </a:pPr>
            <a:r>
              <a:t>    struct Token has key, store {</a:t>
            </a:r>
          </a:p>
          <a:p>
            <a:pPr>
              <a:spcAft>
                <a:spcPts val="100"/>
              </a:spcAft>
              <a:defRPr sz="1300">
                <a:solidFill>
                  <a:srgbClr val="00E676"/>
                </a:solidFill>
                <a:latin typeface="Courier New"/>
              </a:defRPr>
            </a:pPr>
            <a:r>
              <a:t>        balance: u64,</a:t>
            </a:r>
          </a:p>
          <a:p>
            <a:pPr>
              <a:spcAft>
                <a:spcPts val="100"/>
              </a:spcAft>
              <a:defRPr sz="1300">
                <a:solidFill>
                  <a:srgbClr val="00E676"/>
                </a:solidFill>
                <a:latin typeface="Courier New"/>
              </a:defRPr>
            </a:pPr>
            <a:r>
              <a:t>    }</a:t>
            </a:r>
          </a:p>
          <a:p>
            <a:pPr>
              <a:spcAft>
                <a:spcPts val="100"/>
              </a:spcAft>
              <a:defRPr sz="1300">
                <a:solidFill>
                  <a:srgbClr val="00E676"/>
                </a:solidFill>
                <a:latin typeface="Courier New"/>
              </a:defRPr>
            </a:pPr>
            <a:endParaRPr/>
          </a:p>
          <a:p>
            <a:pPr>
              <a:spcAft>
                <a:spcPts val="100"/>
              </a:spcAft>
              <a:defRPr sz="1300">
                <a:solidFill>
                  <a:srgbClr val="00E676"/>
                </a:solidFill>
                <a:latin typeface="Courier New"/>
              </a:defRPr>
            </a:pPr>
            <a:r>
              <a:t>    public entry fun mint(</a:t>
            </a:r>
          </a:p>
          <a:p>
            <a:pPr>
              <a:spcAft>
                <a:spcPts val="100"/>
              </a:spcAft>
              <a:defRPr sz="1300">
                <a:solidFill>
                  <a:srgbClr val="00E676"/>
                </a:solidFill>
                <a:latin typeface="Courier New"/>
              </a:defRPr>
            </a:pPr>
            <a:r>
              <a:t>        account: &amp;signer,</a:t>
            </a:r>
          </a:p>
          <a:p>
            <a:pPr>
              <a:spcAft>
                <a:spcPts val="100"/>
              </a:spcAft>
              <a:defRPr sz="1300">
                <a:solidFill>
                  <a:srgbClr val="00E676"/>
                </a:solidFill>
                <a:latin typeface="Courier New"/>
              </a:defRPr>
            </a:pPr>
            <a:r>
              <a:t>        amount: u64</a:t>
            </a:r>
          </a:p>
          <a:p>
            <a:pPr>
              <a:spcAft>
                <a:spcPts val="100"/>
              </a:spcAft>
              <a:defRPr sz="1300">
                <a:solidFill>
                  <a:srgbClr val="00E676"/>
                </a:solidFill>
                <a:latin typeface="Courier New"/>
              </a:defRPr>
            </a:pPr>
            <a:r>
              <a:t>    ) {</a:t>
            </a:r>
          </a:p>
          <a:p>
            <a:pPr>
              <a:spcAft>
                <a:spcPts val="100"/>
              </a:spcAft>
              <a:defRPr sz="1300">
                <a:solidFill>
                  <a:srgbClr val="00E676"/>
                </a:solidFill>
                <a:latin typeface="Courier New"/>
              </a:defRPr>
            </a:pPr>
            <a:r>
              <a:t>        // mint logic</a:t>
            </a:r>
          </a:p>
          <a:p>
            <a:pPr>
              <a:spcAft>
                <a:spcPts val="100"/>
              </a:spcAft>
              <a:defRPr sz="1300">
                <a:solidFill>
                  <a:srgbClr val="00E676"/>
                </a:solidFill>
                <a:latin typeface="Courier New"/>
              </a:defRPr>
            </a:pPr>
            <a:r>
              <a:t>    }</a:t>
            </a:r>
          </a:p>
          <a:p>
            <a:pPr>
              <a:spcAft>
                <a:spcPts val="100"/>
              </a:spcAft>
              <a:defRPr sz="1300">
                <a:solidFill>
                  <a:srgbClr val="00E676"/>
                </a:solidFill>
                <a:latin typeface="Courier New"/>
              </a:defRPr>
            </a:pPr>
            <a:endParaRPr/>
          </a:p>
          <a:p>
            <a:pPr>
              <a:spcAft>
                <a:spcPts val="100"/>
              </a:spcAft>
              <a:defRPr sz="1300">
                <a:solidFill>
                  <a:srgbClr val="00E676"/>
                </a:solidFill>
                <a:latin typeface="Courier New"/>
              </a:defRPr>
            </a:pPr>
            <a:r>
              <a:t>    public fun balance(</a:t>
            </a:r>
          </a:p>
          <a:p>
            <a:pPr>
              <a:spcAft>
                <a:spcPts val="100"/>
              </a:spcAft>
              <a:defRPr sz="1300">
                <a:solidFill>
                  <a:srgbClr val="00E676"/>
                </a:solidFill>
                <a:latin typeface="Courier New"/>
              </a:defRPr>
            </a:pPr>
            <a:r>
              <a:t>        addr: address</a:t>
            </a:r>
          </a:p>
          <a:p>
            <a:pPr>
              <a:spcAft>
                <a:spcPts val="100"/>
              </a:spcAft>
              <a:defRPr sz="1300">
                <a:solidFill>
                  <a:srgbClr val="00E676"/>
                </a:solidFill>
                <a:latin typeface="Courier New"/>
              </a:defRPr>
            </a:pPr>
            <a:r>
              <a:t>    ): u64 { ... }</a:t>
            </a:r>
          </a:p>
          <a:p>
            <a:pPr>
              <a:spcAft>
                <a:spcPts val="100"/>
              </a:spcAft>
              <a:defRPr sz="1300">
                <a:solidFill>
                  <a:srgbClr val="00E676"/>
                </a:solidFill>
                <a:latin typeface="Courier New"/>
              </a:defRPr>
            </a:pPr>
            <a:r>
              <a:t>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00" cy="54864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371600" y="731520"/>
            <a:ext cx="11887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Smart Contract Lifecycle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463040"/>
            <a:ext cx="1097280" cy="36576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31520" y="2560320"/>
            <a:ext cx="2377440" cy="384048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508760" y="2834640"/>
            <a:ext cx="731520" cy="731520"/>
          </a:xfrm>
          <a:prstGeom prst="ellipse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>
                <a:solidFill>
                  <a:srgbClr val="0D0D0D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84048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57200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BBBBBB"/>
                </a:solidFill>
                <a:latin typeface="Calibri"/>
              </a:defRPr>
            </a:pPr>
            <a:r>
              <a:t>Define requirements,</a:t>
            </a:r>
            <a:br/>
            <a:r>
              <a:t>data model, interfaces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54680" y="41148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FFCD00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20439" y="2560320"/>
            <a:ext cx="2377440" cy="384048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4297679" y="2834640"/>
            <a:ext cx="731520" cy="731520"/>
          </a:xfrm>
          <a:prstGeom prst="ellipse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>
                <a:solidFill>
                  <a:srgbClr val="0D0D0D"/>
                </a:solidFill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03319" y="384048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Develop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03319" y="457200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BBBBBB"/>
                </a:solidFill>
                <a:latin typeface="Calibri"/>
              </a:defRPr>
            </a:pPr>
            <a:r>
              <a:t>Write code, unit tests,</a:t>
            </a:r>
            <a:br/>
            <a:r>
              <a:t>integration tests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599" y="41148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FFCD00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59" y="2560320"/>
            <a:ext cx="2377440" cy="384048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7086599" y="2834640"/>
            <a:ext cx="731520" cy="731520"/>
          </a:xfrm>
          <a:prstGeom prst="ellipse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>
                <a:solidFill>
                  <a:srgbClr val="0D0D0D"/>
                </a:solidFill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39" y="384048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Audit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39" y="457200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BBBBBB"/>
                </a:solidFill>
                <a:latin typeface="Calibri"/>
              </a:defRPr>
            </a:pPr>
            <a:r>
              <a:t>Security review,</a:t>
            </a:r>
            <a:br/>
            <a:r>
              <a:t>formal verification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32519" y="41148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FFCD00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98280" y="2560320"/>
            <a:ext cx="2377440" cy="384048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9875520" y="2834640"/>
            <a:ext cx="731520" cy="731520"/>
          </a:xfrm>
          <a:prstGeom prst="ellipse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>
                <a:solidFill>
                  <a:srgbClr val="0D0D0D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81160" y="384048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Deploy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81160" y="457200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BBBBBB"/>
                </a:solidFill>
                <a:latin typeface="Calibri"/>
              </a:defRPr>
            </a:pPr>
            <a:r>
              <a:t>Publish to testnet,</a:t>
            </a:r>
            <a:br/>
            <a:r>
              <a:t>then mainnet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521440" y="41148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FFCD00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1887200" y="2560320"/>
            <a:ext cx="2377440" cy="384048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12664440" y="2834640"/>
            <a:ext cx="731520" cy="731520"/>
          </a:xfrm>
          <a:prstGeom prst="ellipse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>
                <a:solidFill>
                  <a:srgbClr val="0D0D0D"/>
                </a:solidFill>
              </a:defRPr>
            </a:pPr>
            <a: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070080" y="384048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Monitor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070080" y="457200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BBBBBB"/>
                </a:solidFill>
                <a:latin typeface="Calibri"/>
              </a:defRPr>
            </a:pPr>
            <a:r>
              <a:t>Track events, upgrade</a:t>
            </a:r>
            <a:br/>
            <a:r>
              <a:t>if needed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00" cy="54864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371600" y="731520"/>
            <a:ext cx="11887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Smart Contract Security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463040"/>
            <a:ext cx="1097280" cy="36576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1371600" y="2103120"/>
            <a:ext cx="5669280" cy="132588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645920" y="21945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Calibri"/>
              </a:defRPr>
            </a:pPr>
            <a:r>
              <a:t>⚠️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219456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6B6B"/>
                </a:solidFill>
                <a:latin typeface="Calibri"/>
              </a:defRPr>
            </a:pPr>
            <a:r>
              <a:t>Reentrancy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0" y="2651760"/>
            <a:ext cx="4389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BBBB"/>
                </a:solidFill>
                <a:latin typeface="Calibri"/>
              </a:defRPr>
            </a:pPr>
            <a:r>
              <a:t>Recursive calls drain funds before state updates — use checks-effects-interactions pattern.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71600" y="3657600"/>
            <a:ext cx="5669280" cy="132588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645920" y="37490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Calibri"/>
              </a:defRPr>
            </a:pPr>
            <a:r>
              <a:t>⚠️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0" y="374904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6B6B"/>
                </a:solidFill>
                <a:latin typeface="Calibri"/>
              </a:defRPr>
            </a:pPr>
            <a:r>
              <a:t>Integer Overflow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000" y="4206240"/>
            <a:ext cx="4389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BBBB"/>
                </a:solidFill>
                <a:latin typeface="Calibri"/>
              </a:defRPr>
            </a:pPr>
            <a:r>
              <a:t>Arithmetic errors lead to unexpected values — use safe math or Move's built-in safety.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371600" y="5212079"/>
            <a:ext cx="5669280" cy="132588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645920" y="5303519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Calibri"/>
              </a:defRPr>
            </a:pPr>
            <a:r>
              <a:t>⚠️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6000" y="5303519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6B6B"/>
                </a:solidFill>
                <a:latin typeface="Calibri"/>
              </a:defRPr>
            </a:pPr>
            <a:r>
              <a:t>Access Control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5760719"/>
            <a:ext cx="4389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BBBB"/>
                </a:solidFill>
                <a:latin typeface="Calibri"/>
              </a:defRPr>
            </a:pPr>
            <a:r>
              <a:t>Missing permission checks let anyone call privileged functions — always validate callers.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0" y="2103120"/>
            <a:ext cx="5669280" cy="484632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29600" y="22860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E676"/>
                </a:solidFill>
                <a:latin typeface="Calibri"/>
              </a:defRPr>
            </a:pPr>
            <a:r>
              <a:t>🛡️  Why Move is Safer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301752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BBBBBB"/>
                </a:solidFill>
                <a:latin typeface="Calibri"/>
              </a:defRPr>
            </a:pPr>
            <a:r>
              <a:t>•  Resource-oriented: assets can't be copied or lost</a:t>
            </a:r>
          </a:p>
          <a:p>
            <a:pPr>
              <a:spcAft>
                <a:spcPts val="400"/>
              </a:spcAft>
              <a:defRPr sz="1400">
                <a:solidFill>
                  <a:srgbClr val="BBBBBB"/>
                </a:solidFill>
                <a:latin typeface="Calibri"/>
              </a:defRPr>
            </a:pPr>
            <a:r>
              <a:t>•  No reentrancy by design — linear type system</a:t>
            </a:r>
          </a:p>
          <a:p>
            <a:pPr>
              <a:spcAft>
                <a:spcPts val="400"/>
              </a:spcAft>
              <a:defRPr sz="1400">
                <a:solidFill>
                  <a:srgbClr val="BBBBBB"/>
                </a:solidFill>
                <a:latin typeface="Calibri"/>
              </a:defRPr>
            </a:pPr>
            <a:r>
              <a:t>•  Formal verification built into the toolchain</a:t>
            </a:r>
          </a:p>
          <a:p>
            <a:pPr>
              <a:spcAft>
                <a:spcPts val="400"/>
              </a:spcAft>
              <a:defRPr sz="1400">
                <a:solidFill>
                  <a:srgbClr val="BBBBBB"/>
                </a:solidFill>
                <a:latin typeface="Calibri"/>
              </a:defRPr>
            </a:pPr>
            <a:r>
              <a:t>•  Bytecode verification before execution</a:t>
            </a:r>
          </a:p>
          <a:p>
            <a:pPr>
              <a:spcAft>
                <a:spcPts val="400"/>
              </a:spcAft>
              <a:defRPr sz="1400">
                <a:solidFill>
                  <a:srgbClr val="BBBBBB"/>
                </a:solidFill>
                <a:latin typeface="Calibri"/>
              </a:defRPr>
            </a:pPr>
            <a:r>
              <a:t>•  Explicit ownership &amp; borrow semantics</a:t>
            </a:r>
          </a:p>
          <a:p>
            <a:pPr>
              <a:spcAft>
                <a:spcPts val="400"/>
              </a:spcAft>
              <a:defRPr sz="1400">
                <a:solidFill>
                  <a:srgbClr val="BBBBBB"/>
                </a:solidFill>
                <a:latin typeface="Calibri"/>
              </a:defRPr>
            </a:pPr>
            <a:r>
              <a:t>•  No dynamic dispatch — predictable execution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00" cy="54864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371600" y="731520"/>
            <a:ext cx="11887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Introduction to DeFi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463040"/>
            <a:ext cx="1097280" cy="36576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371600" y="2011680"/>
            <a:ext cx="11887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BBBBBB"/>
                </a:solidFill>
                <a:latin typeface="Calibri"/>
              </a:defRPr>
            </a:pPr>
            <a:r>
              <a:t>Decentralized Finance (DeFi) recreates traditional financial services using smart contracts — open, permissionless, and composable.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3474720"/>
            <a:ext cx="2743200" cy="347472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645920" y="3749039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FFFFFF"/>
                </a:solidFill>
                <a:latin typeface="Calibri"/>
              </a:defRPr>
            </a:pPr>
            <a:r>
              <a:t>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43891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CD00"/>
                </a:solidFill>
                <a:latin typeface="Calibri"/>
              </a:defRPr>
            </a:pPr>
            <a:r>
              <a:t>Open Access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5029200"/>
            <a:ext cx="2194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BBBBBB"/>
                </a:solidFill>
                <a:latin typeface="Calibri"/>
              </a:defRPr>
            </a:pPr>
            <a:r>
              <a:t>No KYC, no minimum</a:t>
            </a:r>
            <a:br/>
            <a:r>
              <a:t>balance — anyone</a:t>
            </a:r>
            <a:br/>
            <a:r>
              <a:t>with a wallet can use it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60" y="3474720"/>
            <a:ext cx="2743200" cy="347472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754880" y="3749039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FFFFFF"/>
                </a:solidFill>
                <a:latin typeface="Calibri"/>
              </a:defRPr>
            </a:pPr>
            <a:r>
              <a:t>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43891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CD00"/>
                </a:solidFill>
                <a:latin typeface="Calibri"/>
              </a:defRPr>
            </a:pPr>
            <a:r>
              <a:t>Composable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5029200"/>
            <a:ext cx="2194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BBBBBB"/>
                </a:solidFill>
                <a:latin typeface="Calibri"/>
              </a:defRPr>
            </a:pPr>
            <a:r>
              <a:t>Protocols plug into</a:t>
            </a:r>
            <a:br/>
            <a:r>
              <a:t>each other like</a:t>
            </a:r>
            <a:br/>
            <a:r>
              <a:t>building blocks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0" y="3474720"/>
            <a:ext cx="2743200" cy="347472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863840" y="3749039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FFFFFF"/>
                </a:solidFill>
                <a:latin typeface="Calibri"/>
              </a:defRPr>
            </a:pPr>
            <a:r>
              <a:t>👁️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0" y="43891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CD00"/>
                </a:solidFill>
                <a:latin typeface="Calibri"/>
              </a:defRPr>
            </a:pPr>
            <a:r>
              <a:t>Transparent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5029200"/>
            <a:ext cx="2194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BBBBBB"/>
                </a:solidFill>
                <a:latin typeface="Calibri"/>
              </a:defRPr>
            </a:pPr>
            <a:r>
              <a:t>All transactions and</a:t>
            </a:r>
            <a:br/>
            <a:r>
              <a:t>logic are publicly</a:t>
            </a:r>
            <a:br/>
            <a:r>
              <a:t>auditable on-chain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698480" y="3474720"/>
            <a:ext cx="2743200" cy="347472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972800" y="3749039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FFFFFF"/>
                </a:solidFill>
                <a:latin typeface="Calibri"/>
              </a:defRPr>
            </a:pPr>
            <a:r>
              <a:t>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43891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CD00"/>
                </a:solidFill>
                <a:latin typeface="Calibri"/>
              </a:defRPr>
            </a:pPr>
            <a:r>
              <a:t>Non-Custodial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5029200"/>
            <a:ext cx="2194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BBBBBB"/>
                </a:solidFill>
                <a:latin typeface="Calibri"/>
              </a:defRPr>
            </a:pPr>
            <a:r>
              <a:t>Users retain full</a:t>
            </a:r>
            <a:br/>
            <a:r>
              <a:t>control — no one</a:t>
            </a:r>
            <a:br/>
            <a:r>
              <a:t>can freeze your funds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00" cy="54864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371600" y="731520"/>
            <a:ext cx="11887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Token Standards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463040"/>
            <a:ext cx="1097280" cy="36576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371600" y="2011680"/>
            <a:ext cx="1188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BBBBBB"/>
                </a:solidFill>
                <a:latin typeface="Calibri"/>
              </a:defRPr>
            </a:pPr>
            <a:r>
              <a:t>Standards define how tokens behave — enabling interoperability across wallets, DEXs, and protocols.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2743200"/>
            <a:ext cx="3931920" cy="475488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371600" y="292608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CD00"/>
                </a:solidFill>
                <a:latin typeface="Calibri"/>
              </a:defRPr>
            </a:pPr>
            <a:r>
              <a:t>💰  ERC-20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47472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Fungible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4114800"/>
            <a:ext cx="33832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BBBBB"/>
                </a:solidFill>
                <a:latin typeface="Calibri"/>
              </a:defRPr>
            </a:pPr>
            <a:r>
              <a:t>•  Identical &amp; interchangeable (like currency)</a:t>
            </a:r>
          </a:p>
          <a:p>
            <a:pPr>
              <a:spcAft>
                <a:spcPts val="400"/>
              </a:spcAft>
              <a:defRPr sz="1300">
                <a:solidFill>
                  <a:srgbClr val="BBBBBB"/>
                </a:solidFill>
                <a:latin typeface="Calibri"/>
              </a:defRPr>
            </a:pPr>
            <a:r>
              <a:t>•  transfer(), approve(), balanceOf()</a:t>
            </a:r>
          </a:p>
          <a:p>
            <a:pPr>
              <a:spcAft>
                <a:spcPts val="400"/>
              </a:spcAft>
              <a:defRPr sz="1300">
                <a:solidFill>
                  <a:srgbClr val="BBBBBB"/>
                </a:solidFill>
                <a:latin typeface="Calibri"/>
              </a:defRPr>
            </a:pPr>
            <a:r>
              <a:t>•  Examples: USDC, LINK, UNI</a:t>
            </a:r>
          </a:p>
          <a:p>
            <a:pPr>
              <a:spcAft>
                <a:spcPts val="400"/>
              </a:spcAft>
              <a:defRPr sz="1300">
                <a:solidFill>
                  <a:srgbClr val="BBBBBB"/>
                </a:solidFill>
                <a:latin typeface="Calibri"/>
              </a:defRPr>
            </a:pPr>
            <a:r>
              <a:t>•  Move equivalent: Coin standard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94960" y="2743200"/>
            <a:ext cx="3931920" cy="475488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669280" y="292608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CD00"/>
                </a:solidFill>
                <a:latin typeface="Calibri"/>
              </a:defRPr>
            </a:pPr>
            <a:r>
              <a:t>🎨  ERC-721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0" y="347472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Non-Fungible Tokens (NFTs)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4114800"/>
            <a:ext cx="33832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BBBBB"/>
                </a:solidFill>
                <a:latin typeface="Calibri"/>
              </a:defRPr>
            </a:pPr>
            <a:r>
              <a:t>•  Each token is unique with a tokenId</a:t>
            </a:r>
          </a:p>
          <a:p>
            <a:pPr>
              <a:spcAft>
                <a:spcPts val="400"/>
              </a:spcAft>
              <a:defRPr sz="1300">
                <a:solidFill>
                  <a:srgbClr val="BBBBBB"/>
                </a:solidFill>
                <a:latin typeface="Calibri"/>
              </a:defRPr>
            </a:pPr>
            <a:r>
              <a:t>•  ownerOf(), transferFrom(), metadata URI</a:t>
            </a:r>
          </a:p>
          <a:p>
            <a:pPr>
              <a:spcAft>
                <a:spcPts val="400"/>
              </a:spcAft>
              <a:defRPr sz="1300">
                <a:solidFill>
                  <a:srgbClr val="BBBBBB"/>
                </a:solidFill>
                <a:latin typeface="Calibri"/>
              </a:defRPr>
            </a:pPr>
            <a:r>
              <a:t>•  Examples: CryptoPunks, art, PFPs</a:t>
            </a:r>
          </a:p>
          <a:p>
            <a:pPr>
              <a:spcAft>
                <a:spcPts val="400"/>
              </a:spcAft>
              <a:defRPr sz="1300">
                <a:solidFill>
                  <a:srgbClr val="BBBBBB"/>
                </a:solidFill>
                <a:latin typeface="Calibri"/>
              </a:defRPr>
            </a:pPr>
            <a:r>
              <a:t>•  Move equivalent: Object / Token standard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692640" y="2743200"/>
            <a:ext cx="3931920" cy="475488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966960" y="292608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CD00"/>
                </a:solidFill>
                <a:latin typeface="Calibri"/>
              </a:defRPr>
            </a:pPr>
            <a:r>
              <a:t>🎮  ERC-1155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66960" y="347472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Multi-Token Standard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66960" y="4114800"/>
            <a:ext cx="33832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BBBBB"/>
                </a:solidFill>
                <a:latin typeface="Calibri"/>
              </a:defRPr>
            </a:pPr>
            <a:r>
              <a:t>•  Batch operations for fungible + non-fungible</a:t>
            </a:r>
          </a:p>
          <a:p>
            <a:pPr>
              <a:spcAft>
                <a:spcPts val="400"/>
              </a:spcAft>
              <a:defRPr sz="1300">
                <a:solidFill>
                  <a:srgbClr val="BBBBBB"/>
                </a:solidFill>
                <a:latin typeface="Calibri"/>
              </a:defRPr>
            </a:pPr>
            <a:r>
              <a:t>•  Single contract manages multiple token types</a:t>
            </a:r>
          </a:p>
          <a:p>
            <a:pPr>
              <a:spcAft>
                <a:spcPts val="400"/>
              </a:spcAft>
              <a:defRPr sz="1300">
                <a:solidFill>
                  <a:srgbClr val="BBBBBB"/>
                </a:solidFill>
                <a:latin typeface="Calibri"/>
              </a:defRPr>
            </a:pPr>
            <a:r>
              <a:t>•  Gas-efficient for gaming &amp; collections</a:t>
            </a:r>
          </a:p>
          <a:p>
            <a:pPr>
              <a:spcAft>
                <a:spcPts val="400"/>
              </a:spcAft>
              <a:defRPr sz="1300">
                <a:solidFill>
                  <a:srgbClr val="BBBBBB"/>
                </a:solidFill>
                <a:latin typeface="Calibri"/>
              </a:defRPr>
            </a:pPr>
            <a:r>
              <a:t>•  Ideal for in-game items &amp; editions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00" cy="54864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371600" y="731520"/>
            <a:ext cx="11887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On-Chain Trading — DEXs &amp; AMMs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463040"/>
            <a:ext cx="1097280" cy="36576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371600" y="2011680"/>
            <a:ext cx="1188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BBBBBB"/>
                </a:solidFill>
                <a:latin typeface="Calibri"/>
              </a:defRPr>
            </a:pPr>
            <a:r>
              <a:t>Trade assets directly from your wallet using liquidity pools instead of order books.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2926080"/>
            <a:ext cx="5943600" cy="228600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828800" y="31089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CD00"/>
                </a:solidFill>
                <a:latin typeface="Calibri"/>
              </a:defRPr>
            </a:pPr>
            <a:r>
              <a:t>Automated Market Makers (AMMs)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365760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BBBBB"/>
                </a:solidFill>
                <a:latin typeface="Calibri"/>
              </a:defRPr>
            </a:pPr>
            <a:r>
              <a:t>•  Replace order books with x * y = k formula</a:t>
            </a:r>
          </a:p>
          <a:p>
            <a:pPr>
              <a:spcAft>
                <a:spcPts val="400"/>
              </a:spcAft>
              <a:defRPr sz="1300">
                <a:solidFill>
                  <a:srgbClr val="BBBBBB"/>
                </a:solidFill>
                <a:latin typeface="Calibri"/>
              </a:defRPr>
            </a:pPr>
            <a:r>
              <a:t>•  Liquidity Providers deposit token pairs</a:t>
            </a:r>
          </a:p>
          <a:p>
            <a:pPr>
              <a:spcAft>
                <a:spcPts val="400"/>
              </a:spcAft>
              <a:defRPr sz="1300">
                <a:solidFill>
                  <a:srgbClr val="BBBBBB"/>
                </a:solidFill>
                <a:latin typeface="Calibri"/>
              </a:defRPr>
            </a:pPr>
            <a:r>
              <a:t>•  Price adjusts automatically based on pool ratio</a:t>
            </a:r>
          </a:p>
          <a:p>
            <a:pPr>
              <a:spcAft>
                <a:spcPts val="400"/>
              </a:spcAft>
              <a:defRPr sz="1300">
                <a:solidFill>
                  <a:srgbClr val="BBBBBB"/>
                </a:solidFill>
                <a:latin typeface="Calibri"/>
              </a:defRPr>
            </a:pPr>
            <a:r>
              <a:t>•  Anyone can trade — no counterparty matching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0" y="2926080"/>
            <a:ext cx="5943600" cy="228600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0" y="31089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CD00"/>
                </a:solidFill>
                <a:latin typeface="Calibri"/>
              </a:defRPr>
            </a:pPr>
            <a:r>
              <a:t>Order Book DEXs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365760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BBBBB"/>
                </a:solidFill>
                <a:latin typeface="Calibri"/>
              </a:defRPr>
            </a:pPr>
            <a:r>
              <a:t>•  On-chain limit orders like traditional exchanges</a:t>
            </a:r>
          </a:p>
          <a:p>
            <a:pPr>
              <a:spcAft>
                <a:spcPts val="400"/>
              </a:spcAft>
              <a:defRPr sz="1300">
                <a:solidFill>
                  <a:srgbClr val="BBBBBB"/>
                </a:solidFill>
                <a:latin typeface="Calibri"/>
              </a:defRPr>
            </a:pPr>
            <a:r>
              <a:t>•  Better price discovery &amp; less slippage</a:t>
            </a:r>
          </a:p>
          <a:p>
            <a:pPr>
              <a:spcAft>
                <a:spcPts val="400"/>
              </a:spcAft>
              <a:defRPr sz="1300">
                <a:solidFill>
                  <a:srgbClr val="BBBBBB"/>
                </a:solidFill>
                <a:latin typeface="Calibri"/>
              </a:defRPr>
            </a:pPr>
            <a:r>
              <a:t>•  Requires high throughput (Movement advantage!)</a:t>
            </a:r>
          </a:p>
          <a:p>
            <a:pPr>
              <a:spcAft>
                <a:spcPts val="400"/>
              </a:spcAft>
              <a:defRPr sz="1300">
                <a:solidFill>
                  <a:srgbClr val="BBBBBB"/>
                </a:solidFill>
                <a:latin typeface="Calibri"/>
              </a:defRPr>
            </a:pPr>
            <a:r>
              <a:t>•  Examples: dYdX, Econia, Meridian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0" y="5486400"/>
            <a:ext cx="11887200" cy="201168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828800" y="56692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CD00"/>
                </a:solidFill>
                <a:latin typeface="Calibri"/>
              </a:defRPr>
            </a:pPr>
            <a:r>
              <a:t>Key Trading Concepts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62179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Slippage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658368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BB"/>
                </a:solidFill>
                <a:latin typeface="Calibri"/>
              </a:defRPr>
            </a:pPr>
            <a:r>
              <a:t>Price difference between</a:t>
            </a:r>
            <a:br/>
            <a:r>
              <a:t>expected and executed trade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62179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Impermanent Loss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658368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BB"/>
                </a:solidFill>
                <a:latin typeface="Calibri"/>
              </a:defRPr>
            </a:pPr>
            <a:r>
              <a:t>LP value loss when token</a:t>
            </a:r>
            <a:br/>
            <a:r>
              <a:t>prices diverge from deposit ratio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0" y="62179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MEV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0" y="658368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BB"/>
                </a:solidFill>
                <a:latin typeface="Calibri"/>
              </a:defRPr>
            </a:pPr>
            <a:r>
              <a:t>Miners/validators reorder txns</a:t>
            </a:r>
            <a:br/>
            <a:r>
              <a:t>for profit (sandwich attacks)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62179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Concentrated Liquidity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0" y="658368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BB"/>
                </a:solidFill>
                <a:latin typeface="Calibri"/>
              </a:defRPr>
            </a:pPr>
            <a:r>
              <a:t>LPs focus capital in specific</a:t>
            </a:r>
            <a:br/>
            <a:r>
              <a:t>price ranges for efficiency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00" cy="54864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371600" y="731520"/>
            <a:ext cx="11887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AMM Deep Dive — Liquidity Providing &amp; Swapping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463040"/>
            <a:ext cx="1097280" cy="36576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371600" y="1645920"/>
            <a:ext cx="1188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BBBBB"/>
                </a:solidFill>
                <a:latin typeface="Calibri"/>
              </a:defRPr>
            </a:pPr>
            <a:r>
              <a:t>How liquidity pools enable trustless trading — and how LPs and swappers depend on each other.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286000"/>
            <a:ext cx="6583680" cy="566928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2377440"/>
            <a:ext cx="603504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B4D8"/>
                </a:solidFill>
                <a:latin typeface="Calibri"/>
              </a:defRPr>
            </a:pPr>
            <a:r>
              <a:rPr dirty="0"/>
              <a:t>  Liquidity Providing</a:t>
            </a:r>
          </a:p>
        </p:txBody>
      </p:sp>
      <p:sp>
        <p:nvSpPr>
          <p:cNvPr id="8" name="Oval 7"/>
          <p:cNvSpPr/>
          <p:nvPr/>
        </p:nvSpPr>
        <p:spPr>
          <a:xfrm>
            <a:off x="822960" y="2971800"/>
            <a:ext cx="365760" cy="365760"/>
          </a:xfrm>
          <a:prstGeom prst="ellipse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D0D0D"/>
                </a:solidFill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29260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B4D8"/>
                </a:solidFill>
                <a:latin typeface="Calibri"/>
              </a:defRPr>
            </a:pPr>
            <a:r>
              <a:t>Deposit Pair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3246120"/>
            <a:ext cx="5303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BB"/>
                </a:solidFill>
                <a:latin typeface="Calibri"/>
              </a:defRPr>
            </a:pPr>
            <a:r>
              <a:t>LP deposits equal value of two tokens</a:t>
            </a:r>
            <a:br/>
            <a:r>
              <a:t>(e.g. $500 ETH + $500 USDC)</a:t>
            </a:r>
          </a:p>
        </p:txBody>
      </p:sp>
      <p:sp>
        <p:nvSpPr>
          <p:cNvPr id="11" name="Oval 10"/>
          <p:cNvSpPr/>
          <p:nvPr/>
        </p:nvSpPr>
        <p:spPr>
          <a:xfrm>
            <a:off x="822960" y="4160520"/>
            <a:ext cx="365760" cy="365760"/>
          </a:xfrm>
          <a:prstGeom prst="ellipse">
            <a:avLst/>
          </a:prstGeom>
          <a:solidFill>
            <a:srgbClr val="00E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D0D0D"/>
                </a:solidFill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41148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E676"/>
                </a:solidFill>
                <a:latin typeface="Calibri"/>
              </a:defRPr>
            </a:pPr>
            <a:r>
              <a:t>Receive LP Tokens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4434840"/>
            <a:ext cx="5303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BB"/>
                </a:solidFill>
                <a:latin typeface="Calibri"/>
              </a:defRPr>
            </a:pPr>
            <a:r>
              <a:t>Pool mints LP tokens representing</a:t>
            </a:r>
            <a:br/>
            <a:r>
              <a:t>your share of the total pool</a:t>
            </a:r>
          </a:p>
        </p:txBody>
      </p:sp>
      <p:sp>
        <p:nvSpPr>
          <p:cNvPr id="14" name="Oval 13"/>
          <p:cNvSpPr/>
          <p:nvPr/>
        </p:nvSpPr>
        <p:spPr>
          <a:xfrm>
            <a:off x="822960" y="5349240"/>
            <a:ext cx="365760" cy="365760"/>
          </a:xfrm>
          <a:prstGeom prst="ellipse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D0D0D"/>
                </a:solidFill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53035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CD00"/>
                </a:solidFill>
                <a:latin typeface="Calibri"/>
              </a:defRPr>
            </a:pPr>
            <a:r>
              <a:t>Earn Fees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5623560"/>
            <a:ext cx="5303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BB"/>
                </a:solidFill>
                <a:latin typeface="Calibri"/>
              </a:defRPr>
            </a:pPr>
            <a:r>
              <a:t>Every swap pays 0.3% fee — distributed</a:t>
            </a:r>
            <a:br/>
            <a:r>
              <a:t>proportionally to all LP token holders</a:t>
            </a:r>
          </a:p>
        </p:txBody>
      </p:sp>
      <p:sp>
        <p:nvSpPr>
          <p:cNvPr id="17" name="Oval 16"/>
          <p:cNvSpPr/>
          <p:nvPr/>
        </p:nvSpPr>
        <p:spPr>
          <a:xfrm>
            <a:off x="822960" y="6537960"/>
            <a:ext cx="365760" cy="365760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D0D0D"/>
                </a:solidFill>
              </a:defRPr>
            </a:pPr>
            <a: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64922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A500"/>
                </a:solidFill>
                <a:latin typeface="Calibri"/>
              </a:defRPr>
            </a:pPr>
            <a:r>
              <a:t>Withdraw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6812280"/>
            <a:ext cx="5303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BB"/>
                </a:solidFill>
                <a:latin typeface="Calibri"/>
              </a:defRPr>
            </a:pPr>
            <a:r>
              <a:t>Burn LP tokens to reclaim your share</a:t>
            </a:r>
            <a:br/>
            <a:r>
              <a:t>of both tokens (may differ from deposit)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589520" y="2286000"/>
            <a:ext cx="6583680" cy="566928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863840" y="2377440"/>
            <a:ext cx="603504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E676"/>
                </a:solidFill>
                <a:latin typeface="Calibri"/>
              </a:defRPr>
            </a:pPr>
            <a:r>
              <a:rPr dirty="0"/>
              <a:t>Swapping (Trading)</a:t>
            </a:r>
          </a:p>
        </p:txBody>
      </p:sp>
      <p:sp>
        <p:nvSpPr>
          <p:cNvPr id="22" name="Oval 21"/>
          <p:cNvSpPr/>
          <p:nvPr/>
        </p:nvSpPr>
        <p:spPr>
          <a:xfrm>
            <a:off x="7955279" y="2971800"/>
            <a:ext cx="365760" cy="365760"/>
          </a:xfrm>
          <a:prstGeom prst="ellipse">
            <a:avLst/>
          </a:prstGeom>
          <a:solidFill>
            <a:srgbClr val="00E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D0D0D"/>
                </a:solidFill>
              </a:defRPr>
            </a:pPr>
            <a: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58200" y="29260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E676"/>
                </a:solidFill>
                <a:latin typeface="Calibri"/>
              </a:defRPr>
            </a:pPr>
            <a:r>
              <a:t>Submit Swap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58200" y="3246120"/>
            <a:ext cx="5303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BB"/>
                </a:solidFill>
                <a:latin typeface="Calibri"/>
              </a:defRPr>
            </a:pPr>
            <a:r>
              <a:t>Trader sends Token A to the pool</a:t>
            </a:r>
            <a:br/>
            <a:r>
              <a:t>and specifies desired Token B</a:t>
            </a:r>
          </a:p>
        </p:txBody>
      </p:sp>
      <p:sp>
        <p:nvSpPr>
          <p:cNvPr id="25" name="Oval 24"/>
          <p:cNvSpPr/>
          <p:nvPr/>
        </p:nvSpPr>
        <p:spPr>
          <a:xfrm>
            <a:off x="7955279" y="4160520"/>
            <a:ext cx="365760" cy="365760"/>
          </a:xfrm>
          <a:prstGeom prst="ellipse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D0D0D"/>
                </a:solidFill>
              </a:defRPr>
            </a:pPr>
            <a: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41148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CD00"/>
                </a:solidFill>
                <a:latin typeface="Calibri"/>
              </a:defRPr>
            </a:pPr>
            <a:r>
              <a:t>Price Calculated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58200" y="4434840"/>
            <a:ext cx="5303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BB"/>
                </a:solidFill>
                <a:latin typeface="Calibri"/>
              </a:defRPr>
            </a:pPr>
            <a:r>
              <a:t>AMM uses x × y = k formula</a:t>
            </a:r>
            <a:br/>
            <a:r>
              <a:t>Price = ratio of tokens in pool</a:t>
            </a:r>
          </a:p>
        </p:txBody>
      </p:sp>
      <p:sp>
        <p:nvSpPr>
          <p:cNvPr id="28" name="Oval 27"/>
          <p:cNvSpPr/>
          <p:nvPr/>
        </p:nvSpPr>
        <p:spPr>
          <a:xfrm>
            <a:off x="7955279" y="5349240"/>
            <a:ext cx="365760" cy="365760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D0D0D"/>
                </a:solidFill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58200" y="53035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A500"/>
                </a:solidFill>
                <a:latin typeface="Calibri"/>
              </a:defRPr>
            </a:pPr>
            <a:r>
              <a:t>Slippage Applied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58200" y="5623560"/>
            <a:ext cx="5303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BB"/>
                </a:solidFill>
                <a:latin typeface="Calibri"/>
              </a:defRPr>
            </a:pPr>
            <a:r>
              <a:t>Larger trades move the price more</a:t>
            </a:r>
            <a:br/>
            <a:r>
              <a:t>(higher slippage = worse rate)</a:t>
            </a:r>
          </a:p>
        </p:txBody>
      </p:sp>
      <p:sp>
        <p:nvSpPr>
          <p:cNvPr id="31" name="Oval 30"/>
          <p:cNvSpPr/>
          <p:nvPr/>
        </p:nvSpPr>
        <p:spPr>
          <a:xfrm>
            <a:off x="7955279" y="6537960"/>
            <a:ext cx="365760" cy="365760"/>
          </a:xfrm>
          <a:prstGeom prst="ellipse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D0D0D"/>
                </a:solidFill>
              </a:defRPr>
            </a:pPr>
            <a: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58200" y="64922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B4D8"/>
                </a:solidFill>
                <a:latin typeface="Calibri"/>
              </a:defRPr>
            </a:pPr>
            <a:r>
              <a:t>Tokens Received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58200" y="6812280"/>
            <a:ext cx="5303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BB"/>
                </a:solidFill>
                <a:latin typeface="Calibri"/>
              </a:defRPr>
            </a:pPr>
            <a:r>
              <a:t>Pool sends Token B to the trader</a:t>
            </a:r>
            <a:br/>
            <a:r>
              <a:t>minus the swap fee (→ goes to LPs)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675120" y="3200400"/>
            <a:ext cx="1280160" cy="4114800"/>
          </a:xfrm>
          <a:prstGeom prst="roundRect">
            <a:avLst/>
          </a:prstGeom>
          <a:solidFill>
            <a:srgbClr val="25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720840" y="3749039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CD00"/>
                </a:solidFill>
                <a:latin typeface="Calibri"/>
              </a:defRPr>
            </a:pPr>
            <a:r>
              <a:rPr dirty="0"/>
              <a:t>THE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20840" y="4023360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CD00"/>
                </a:solidFill>
                <a:latin typeface="Calibri"/>
              </a:defRPr>
            </a:pPr>
            <a:r>
              <a:t>LINK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0840" y="457200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BBBBBB"/>
                </a:solidFill>
                <a:latin typeface="Calibri"/>
              </a:defRPr>
            </a:pPr>
            <a:r>
              <a:t>LPs provide</a:t>
            </a:r>
            <a:br/>
            <a:r>
              <a:t>the liquidity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720840" y="525780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BBBBBB"/>
                </a:solidFill>
                <a:latin typeface="Calibri"/>
              </a:defRPr>
            </a:pPr>
            <a:r>
              <a:t>Swappers</a:t>
            </a:r>
            <a:br/>
            <a:r>
              <a:t>pay the fees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20840" y="594360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BBBBBB"/>
                </a:solidFill>
                <a:latin typeface="Calibri"/>
              </a:defRPr>
            </a:pPr>
            <a:r>
              <a:t>Fees reward</a:t>
            </a:r>
            <a:br/>
            <a:r>
              <a:t>the LPs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20840" y="662940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BBBBBB"/>
                </a:solidFill>
                <a:latin typeface="Calibri"/>
              </a:defRPr>
            </a:pPr>
            <a:r>
              <a:t>More LPs →</a:t>
            </a:r>
            <a:br/>
            <a:r>
              <a:t>less slippage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7635240"/>
            <a:ext cx="13716000" cy="36576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457200" y="7726679"/>
            <a:ext cx="1371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BBBBBB"/>
                </a:solidFill>
                <a:latin typeface="Calibri"/>
              </a:defRPr>
            </a:pPr>
            <a:r>
              <a:t>💡  Symbiotic relationship: LPs need swappers to generate fees — swappers need LPs for deep liquidity &amp; low slippage. More volume → more fees → attracts more LPs → deeper liquidity → less slippage → more volume.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00" cy="54864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371600" y="731520"/>
            <a:ext cx="11887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Stablecoins — Stability in a Volatile Market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463040"/>
            <a:ext cx="1097280" cy="36576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371600" y="2011680"/>
            <a:ext cx="1188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BBBBBB"/>
                </a:solidFill>
                <a:latin typeface="Calibri"/>
              </a:defRPr>
            </a:pPr>
            <a:r>
              <a:t>Tokens pegged to a stable asset (usually $1 USD). The backbone of DeFi liquidity.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2743200"/>
            <a:ext cx="3931920" cy="475488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371600" y="2926080"/>
            <a:ext cx="338328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CD00"/>
                </a:solidFill>
                <a:latin typeface="Calibri"/>
              </a:defRPr>
            </a:pPr>
            <a:r>
              <a:rPr dirty="0"/>
              <a:t> Fiat-Backed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47472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B4D8"/>
                </a:solidFill>
                <a:latin typeface="Calibri"/>
              </a:defRPr>
            </a:pPr>
            <a:r>
              <a:t>Centralized reserves  —  USDC, USDT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4114800"/>
            <a:ext cx="33832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BBBBB"/>
                </a:solidFill>
                <a:latin typeface="Calibri"/>
              </a:defRPr>
            </a:pPr>
            <a:r>
              <a:t>•  1:1 backed by USD in bank accounts</a:t>
            </a:r>
          </a:p>
          <a:p>
            <a:pPr>
              <a:spcAft>
                <a:spcPts val="400"/>
              </a:spcAft>
              <a:defRPr sz="1300">
                <a:solidFill>
                  <a:srgbClr val="BBBBBB"/>
                </a:solidFill>
                <a:latin typeface="Calibri"/>
              </a:defRPr>
            </a:pPr>
            <a:r>
              <a:t>•  Centralized issuer (Circle, Tether)</a:t>
            </a:r>
          </a:p>
          <a:p>
            <a:pPr>
              <a:spcAft>
                <a:spcPts val="400"/>
              </a:spcAft>
              <a:defRPr sz="1300">
                <a:solidFill>
                  <a:srgbClr val="BBBBBB"/>
                </a:solidFill>
                <a:latin typeface="Calibri"/>
              </a:defRPr>
            </a:pPr>
            <a:r>
              <a:t>•  Most trusted but requires trust in issuer</a:t>
            </a:r>
          </a:p>
          <a:p>
            <a:pPr>
              <a:spcAft>
                <a:spcPts val="400"/>
              </a:spcAft>
              <a:defRPr sz="1300">
                <a:solidFill>
                  <a:srgbClr val="BBBBBB"/>
                </a:solidFill>
                <a:latin typeface="Calibri"/>
              </a:defRPr>
            </a:pPr>
            <a:r>
              <a:t>•  Subject to regulatory oversight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94960" y="2743200"/>
            <a:ext cx="3931920" cy="475488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669280" y="2926080"/>
            <a:ext cx="338328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CD00"/>
                </a:solidFill>
                <a:latin typeface="Calibri"/>
              </a:defRPr>
            </a:pPr>
            <a:r>
              <a:rPr dirty="0"/>
              <a:t>Crypto-Backed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0" y="347472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B4D8"/>
                </a:solidFill>
                <a:latin typeface="Calibri"/>
              </a:defRPr>
            </a:pPr>
            <a:r>
              <a:t>Over-collateralized  —  DAI, LUSD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4114800"/>
            <a:ext cx="33832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BBBBB"/>
                </a:solidFill>
                <a:latin typeface="Calibri"/>
              </a:defRPr>
            </a:pPr>
            <a:r>
              <a:t>•  Backed by crypto deposits (e.g. ETH)</a:t>
            </a:r>
          </a:p>
          <a:p>
            <a:pPr>
              <a:spcAft>
                <a:spcPts val="400"/>
              </a:spcAft>
              <a:defRPr sz="1300">
                <a:solidFill>
                  <a:srgbClr val="BBBBBB"/>
                </a:solidFill>
                <a:latin typeface="Calibri"/>
              </a:defRPr>
            </a:pPr>
            <a:r>
              <a:t>•  Over-collateralized (150%+) for safety</a:t>
            </a:r>
          </a:p>
          <a:p>
            <a:pPr>
              <a:spcAft>
                <a:spcPts val="400"/>
              </a:spcAft>
              <a:defRPr sz="1300">
                <a:solidFill>
                  <a:srgbClr val="BBBBBB"/>
                </a:solidFill>
                <a:latin typeface="Calibri"/>
              </a:defRPr>
            </a:pPr>
            <a:r>
              <a:t>•  Decentralized — governed by smart contracts</a:t>
            </a:r>
          </a:p>
          <a:p>
            <a:pPr>
              <a:spcAft>
                <a:spcPts val="400"/>
              </a:spcAft>
              <a:defRPr sz="1300">
                <a:solidFill>
                  <a:srgbClr val="BBBBBB"/>
                </a:solidFill>
                <a:latin typeface="Calibri"/>
              </a:defRPr>
            </a:pPr>
            <a:r>
              <a:t>•  Liquidation if collateral drops too low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692640" y="2743200"/>
            <a:ext cx="3931920" cy="475488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966960" y="2926080"/>
            <a:ext cx="338328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CD00"/>
                </a:solidFill>
                <a:latin typeface="Calibri"/>
              </a:defRPr>
            </a:pPr>
            <a:r>
              <a:rPr dirty="0"/>
              <a:t>Algorithmic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66960" y="347472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B4D8"/>
                </a:solidFill>
                <a:latin typeface="Calibri"/>
              </a:defRPr>
            </a:pPr>
            <a:r>
              <a:t>Supply-based peg  —  FRAX, (UST†)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66960" y="4114800"/>
            <a:ext cx="33832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BBBBB"/>
                </a:solidFill>
                <a:latin typeface="Calibri"/>
              </a:defRPr>
            </a:pPr>
            <a:r>
              <a:t>•  Maintain peg via mint/burn mechanisms</a:t>
            </a:r>
          </a:p>
          <a:p>
            <a:pPr>
              <a:spcAft>
                <a:spcPts val="400"/>
              </a:spcAft>
              <a:defRPr sz="1300">
                <a:solidFill>
                  <a:srgbClr val="BBBBBB"/>
                </a:solidFill>
                <a:latin typeface="Calibri"/>
              </a:defRPr>
            </a:pPr>
            <a:r>
              <a:t>•  No direct collateral (or partial)</a:t>
            </a:r>
          </a:p>
          <a:p>
            <a:pPr>
              <a:spcAft>
                <a:spcPts val="400"/>
              </a:spcAft>
              <a:defRPr sz="1300">
                <a:solidFill>
                  <a:srgbClr val="BBBBBB"/>
                </a:solidFill>
                <a:latin typeface="Calibri"/>
              </a:defRPr>
            </a:pPr>
            <a:r>
              <a:t>•  Capital-efficient but high risk</a:t>
            </a:r>
          </a:p>
          <a:p>
            <a:pPr>
              <a:spcAft>
                <a:spcPts val="400"/>
              </a:spcAft>
              <a:defRPr sz="1300">
                <a:solidFill>
                  <a:srgbClr val="BBBBBB"/>
                </a:solidFill>
                <a:latin typeface="Calibri"/>
              </a:defRPr>
            </a:pPr>
            <a:r>
              <a:t>•  † UST collapse showed fragility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00" cy="54864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371600" y="731520"/>
            <a:ext cx="11887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Stablecoin Lifecycle — How It Works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463040"/>
            <a:ext cx="1097280" cy="36576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371600" y="1920240"/>
            <a:ext cx="1188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BBBBBB"/>
                </a:solidFill>
                <a:latin typeface="Calibri"/>
              </a:defRPr>
            </a:pPr>
            <a:r>
              <a:t>The four core mechanisms that keep stablecoins functioning: Deposit → Mint → Burn → Liquidation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651760"/>
            <a:ext cx="3200400" cy="484632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691640" y="2788920"/>
            <a:ext cx="502920" cy="502920"/>
          </a:xfrm>
          <a:prstGeom prst="ellipse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8328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B4D8"/>
                </a:solidFill>
                <a:latin typeface="Calibri"/>
              </a:defRPr>
            </a:pPr>
            <a:r>
              <a:t>📥  DEPOSIT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84048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Lock Collateral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389120"/>
            <a:ext cx="2834640" cy="1821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BBBBBB"/>
                </a:solidFill>
                <a:latin typeface="Calibri"/>
              </a:defRPr>
            </a:pPr>
            <a:r>
              <a:rPr dirty="0"/>
              <a:t>•  User deposits collateral (</a:t>
            </a:r>
            <a:r>
              <a:rPr lang="en-US" dirty="0"/>
              <a:t>MOVE,</a:t>
            </a:r>
            <a:r>
              <a:rPr dirty="0"/>
              <a:t> BTC, etc.) into a Vault / CDP smart contract</a:t>
            </a:r>
          </a:p>
          <a:p>
            <a:pPr>
              <a:spcAft>
                <a:spcPts val="400"/>
              </a:spcAft>
              <a:defRPr sz="1100">
                <a:solidFill>
                  <a:srgbClr val="BBBBBB"/>
                </a:solidFill>
                <a:latin typeface="Calibri"/>
              </a:defRPr>
            </a:pPr>
            <a:r>
              <a:rPr dirty="0"/>
              <a:t>•  Collateral is locked and tracked on-chain</a:t>
            </a:r>
          </a:p>
          <a:p>
            <a:pPr>
              <a:spcAft>
                <a:spcPts val="400"/>
              </a:spcAft>
              <a:defRPr sz="1100">
                <a:solidFill>
                  <a:srgbClr val="BBBBBB"/>
                </a:solidFill>
                <a:latin typeface="Calibri"/>
              </a:defRPr>
            </a:pPr>
            <a:r>
              <a:rPr dirty="0"/>
              <a:t>•  Collateral ratio must exceed minimum (e.g. 150%)</a:t>
            </a:r>
          </a:p>
          <a:p>
            <a:pPr>
              <a:spcAft>
                <a:spcPts val="400"/>
              </a:spcAft>
              <a:defRPr sz="1100">
                <a:solidFill>
                  <a:srgbClr val="BBBBBB"/>
                </a:solidFill>
                <a:latin typeface="Calibri"/>
              </a:defRPr>
            </a:pPr>
            <a:r>
              <a:rPr dirty="0"/>
              <a:t>•  Over-collateralization protects against volatility</a:t>
            </a:r>
          </a:p>
          <a:p>
            <a:pPr>
              <a:spcAft>
                <a:spcPts val="400"/>
              </a:spcAft>
              <a:defRPr sz="1100">
                <a:solidFill>
                  <a:srgbClr val="BBBBBB"/>
                </a:solidFill>
                <a:latin typeface="Calibri"/>
              </a:defRPr>
            </a:pPr>
            <a:r>
              <a:rPr dirty="0"/>
              <a:t>•  Vault records the user's position &amp; debt ratio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03320" y="47548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FFCD00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23360" y="2651760"/>
            <a:ext cx="3200400" cy="484632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5166360" y="2788920"/>
            <a:ext cx="502920" cy="502920"/>
          </a:xfrm>
          <a:prstGeom prst="ellipse">
            <a:avLst/>
          </a:prstGeom>
          <a:solidFill>
            <a:srgbClr val="00E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338328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E676"/>
                </a:solidFill>
                <a:latin typeface="Calibri"/>
              </a:defRPr>
            </a:pPr>
            <a:r>
              <a:t>🪙  MINT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84048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Create Stablecoins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06240" y="4389120"/>
            <a:ext cx="28346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BBBBBB"/>
                </a:solidFill>
                <a:latin typeface="Calibri"/>
              </a:defRPr>
            </a:pPr>
            <a:r>
              <a:t>•  Smart contract mints new stablecoins against locked collateral</a:t>
            </a:r>
          </a:p>
          <a:p>
            <a:pPr>
              <a:spcAft>
                <a:spcPts val="400"/>
              </a:spcAft>
              <a:defRPr sz="1100">
                <a:solidFill>
                  <a:srgbClr val="BBBBBB"/>
                </a:solidFill>
                <a:latin typeface="Calibri"/>
              </a:defRPr>
            </a:pPr>
            <a:r>
              <a:t>•  Amount minted is limited by collateral ratio</a:t>
            </a:r>
          </a:p>
          <a:p>
            <a:pPr>
              <a:spcAft>
                <a:spcPts val="400"/>
              </a:spcAft>
              <a:defRPr sz="1100">
                <a:solidFill>
                  <a:srgbClr val="BBBBBB"/>
                </a:solidFill>
                <a:latin typeface="Calibri"/>
              </a:defRPr>
            </a:pPr>
            <a:r>
              <a:t>•  e.g. $1500 ETH → mint up to $1000 stablecoins</a:t>
            </a:r>
          </a:p>
          <a:p>
            <a:pPr>
              <a:spcAft>
                <a:spcPts val="400"/>
              </a:spcAft>
              <a:defRPr sz="1100">
                <a:solidFill>
                  <a:srgbClr val="BBBBBB"/>
                </a:solidFill>
                <a:latin typeface="Calibri"/>
              </a:defRPr>
            </a:pPr>
            <a:r>
              <a:t>•  Minted tokens are sent to the user's wallet</a:t>
            </a:r>
          </a:p>
          <a:p>
            <a:pPr>
              <a:spcAft>
                <a:spcPts val="400"/>
              </a:spcAft>
              <a:defRPr sz="1100">
                <a:solidFill>
                  <a:srgbClr val="BBBBBB"/>
                </a:solidFill>
                <a:latin typeface="Calibri"/>
              </a:defRPr>
            </a:pPr>
            <a:r>
              <a:t>•  Debt is recorded — user now owes the protocol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78040" y="47548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FFCD00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98079" y="2651760"/>
            <a:ext cx="3200400" cy="484632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8641079" y="2788920"/>
            <a:ext cx="502920" cy="502920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399" y="338328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A500"/>
                </a:solidFill>
                <a:latin typeface="Calibri"/>
              </a:defRPr>
            </a:pPr>
            <a:r>
              <a:t>🔥  BURN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399" y="384048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Repay &amp; Redeem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59" y="4389120"/>
            <a:ext cx="28346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BBBBBB"/>
                </a:solidFill>
                <a:latin typeface="Calibri"/>
              </a:defRPr>
            </a:pPr>
            <a:r>
              <a:t>•  User returns stablecoins to repay debt</a:t>
            </a:r>
          </a:p>
          <a:p>
            <a:pPr>
              <a:spcAft>
                <a:spcPts val="400"/>
              </a:spcAft>
              <a:defRPr sz="1100">
                <a:solidFill>
                  <a:srgbClr val="BBBBBB"/>
                </a:solidFill>
                <a:latin typeface="Calibri"/>
              </a:defRPr>
            </a:pPr>
            <a:r>
              <a:t>•  Smart contract burns (destroys) the returned tokens</a:t>
            </a:r>
          </a:p>
          <a:p>
            <a:pPr>
              <a:spcAft>
                <a:spcPts val="400"/>
              </a:spcAft>
              <a:defRPr sz="1100">
                <a:solidFill>
                  <a:srgbClr val="BBBBBB"/>
                </a:solidFill>
                <a:latin typeface="Calibri"/>
              </a:defRPr>
            </a:pPr>
            <a:r>
              <a:t>•  Reduces total supply — maintaining the peg</a:t>
            </a:r>
          </a:p>
          <a:p>
            <a:pPr>
              <a:spcAft>
                <a:spcPts val="400"/>
              </a:spcAft>
              <a:defRPr sz="1100">
                <a:solidFill>
                  <a:srgbClr val="BBBBBB"/>
                </a:solidFill>
                <a:latin typeface="Calibri"/>
              </a:defRPr>
            </a:pPr>
            <a:r>
              <a:t>•  Collateral is unlocked and returned to user</a:t>
            </a:r>
          </a:p>
          <a:p>
            <a:pPr>
              <a:spcAft>
                <a:spcPts val="400"/>
              </a:spcAft>
              <a:defRPr sz="1100">
                <a:solidFill>
                  <a:srgbClr val="BBBBBB"/>
                </a:solidFill>
                <a:latin typeface="Calibri"/>
              </a:defRPr>
            </a:pPr>
            <a:r>
              <a:t>•  Stability fee (interest) may be charged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52759" y="47548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FFCD00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972800" y="2651760"/>
            <a:ext cx="3200400" cy="484632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12115800" y="2788920"/>
            <a:ext cx="502920" cy="502920"/>
          </a:xfrm>
          <a:prstGeom prst="ellipse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47120" y="338328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6B6B"/>
                </a:solidFill>
                <a:latin typeface="Calibri"/>
              </a:defRPr>
            </a:pPr>
            <a:r>
              <a:t>⚠️  LIQUIDATION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47120" y="384048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Forced Closure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0" y="4389120"/>
            <a:ext cx="28346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BBBBBB"/>
                </a:solidFill>
                <a:latin typeface="Calibri"/>
              </a:defRPr>
            </a:pPr>
            <a:r>
              <a:t>•  Triggered when collateral ratio falls below minimum</a:t>
            </a:r>
          </a:p>
          <a:p>
            <a:pPr>
              <a:spcAft>
                <a:spcPts val="400"/>
              </a:spcAft>
              <a:defRPr sz="1100">
                <a:solidFill>
                  <a:srgbClr val="BBBBBB"/>
                </a:solidFill>
                <a:latin typeface="Calibri"/>
              </a:defRPr>
            </a:pPr>
            <a:r>
              <a:t>•  Oracle price feeds detect the collateral value drop</a:t>
            </a:r>
          </a:p>
          <a:p>
            <a:pPr>
              <a:spcAft>
                <a:spcPts val="400"/>
              </a:spcAft>
              <a:defRPr sz="1100">
                <a:solidFill>
                  <a:srgbClr val="BBBBBB"/>
                </a:solidFill>
                <a:latin typeface="Calibri"/>
              </a:defRPr>
            </a:pPr>
            <a:r>
              <a:t>•  Liquidators repay the debt at a discount</a:t>
            </a:r>
          </a:p>
          <a:p>
            <a:pPr>
              <a:spcAft>
                <a:spcPts val="400"/>
              </a:spcAft>
              <a:defRPr sz="1100">
                <a:solidFill>
                  <a:srgbClr val="BBBBBB"/>
                </a:solidFill>
                <a:latin typeface="Calibri"/>
              </a:defRPr>
            </a:pPr>
            <a:r>
              <a:t>•  They receive collateral + liquidation bonus (5-10%)</a:t>
            </a:r>
          </a:p>
          <a:p>
            <a:pPr>
              <a:spcAft>
                <a:spcPts val="400"/>
              </a:spcAft>
              <a:defRPr sz="1100">
                <a:solidFill>
                  <a:srgbClr val="BBBBBB"/>
                </a:solidFill>
                <a:latin typeface="Calibri"/>
              </a:defRPr>
            </a:pPr>
            <a:r>
              <a:t>•  Protects protocol from under-collateralization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7635240"/>
            <a:ext cx="13533120" cy="36576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48640" y="7726679"/>
            <a:ext cx="1353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BBBBBB"/>
                </a:solidFill>
                <a:latin typeface="Calibri"/>
              </a:defRPr>
            </a:pPr>
            <a:r>
              <a:t>💡  This cycle maintains the peg: minting increases supply when demand is high, burning decreases it when low, and liquidation ensures solvency.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00" cy="54864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371600" y="731520"/>
            <a:ext cx="11887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Lending &amp; Borrowing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463040"/>
            <a:ext cx="1097280" cy="36576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371600" y="2011680"/>
            <a:ext cx="1188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BBBBBB"/>
                </a:solidFill>
                <a:latin typeface="Calibri"/>
              </a:defRPr>
            </a:pPr>
            <a:r>
              <a:t>Earn yield by supplying assets, or borrow against your collateral — all without a bank.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2926080"/>
            <a:ext cx="5943600" cy="457200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828800" y="31089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CD00"/>
                </a:solidFill>
                <a:latin typeface="Calibri"/>
              </a:defRPr>
            </a:pPr>
            <a:r>
              <a:t>How It 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3749039"/>
            <a:ext cx="50292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BBBBBB"/>
                </a:solidFill>
                <a:latin typeface="Calibri"/>
              </a:defRPr>
            </a:pPr>
            <a:r>
              <a:t>•  Lenders deposit assets into a lending pool</a:t>
            </a:r>
          </a:p>
          <a:p>
            <a:pPr>
              <a:spcAft>
                <a:spcPts val="400"/>
              </a:spcAft>
              <a:defRPr sz="1400">
                <a:solidFill>
                  <a:srgbClr val="BBBBBB"/>
                </a:solidFill>
                <a:latin typeface="Calibri"/>
              </a:defRPr>
            </a:pPr>
            <a:r>
              <a:t>•  Pool issues interest-bearing tokens (aTokens, cTokens)</a:t>
            </a:r>
          </a:p>
          <a:p>
            <a:pPr>
              <a:spcAft>
                <a:spcPts val="400"/>
              </a:spcAft>
              <a:defRPr sz="1400">
                <a:solidFill>
                  <a:srgbClr val="BBBBBB"/>
                </a:solidFill>
                <a:latin typeface="Calibri"/>
              </a:defRPr>
            </a:pPr>
            <a:r>
              <a:t>•  Borrowers deposit collateral and borrow from pool</a:t>
            </a:r>
          </a:p>
          <a:p>
            <a:pPr>
              <a:spcAft>
                <a:spcPts val="400"/>
              </a:spcAft>
              <a:defRPr sz="1400">
                <a:solidFill>
                  <a:srgbClr val="BBBBBB"/>
                </a:solidFill>
                <a:latin typeface="Calibri"/>
              </a:defRPr>
            </a:pPr>
            <a:r>
              <a:t>•  Interest rates adjust algorithmically based on utilization</a:t>
            </a:r>
          </a:p>
          <a:p>
            <a:pPr>
              <a:spcAft>
                <a:spcPts val="400"/>
              </a:spcAft>
              <a:defRPr sz="1400">
                <a:solidFill>
                  <a:srgbClr val="BBBBBB"/>
                </a:solidFill>
                <a:latin typeface="Calibri"/>
              </a:defRPr>
            </a:pPr>
            <a:r>
              <a:t>•  If collateral value drops → liquidation kicks in</a:t>
            </a:r>
          </a:p>
          <a:p>
            <a:pPr>
              <a:spcAft>
                <a:spcPts val="400"/>
              </a:spcAft>
              <a:defRPr sz="1400">
                <a:solidFill>
                  <a:srgbClr val="BBBBBB"/>
                </a:solidFill>
                <a:latin typeface="Calibri"/>
              </a:defRPr>
            </a:pPr>
            <a:r>
              <a:t>•  Everything automated — no credit checks needed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0" y="2926080"/>
            <a:ext cx="5943600" cy="457200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0" y="31089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CD00"/>
                </a:solidFill>
                <a:latin typeface="Calibri"/>
              </a:defRPr>
            </a:pPr>
            <a:r>
              <a:t>Key Concepts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3749039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CD00"/>
                </a:solidFill>
                <a:latin typeface="Calibri"/>
              </a:defRPr>
            </a:pPr>
            <a:r>
              <a:t>Collateral Ratio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4069079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BBBB"/>
                </a:solidFill>
                <a:latin typeface="Calibri"/>
              </a:defRPr>
            </a:pPr>
            <a:r>
              <a:t>How much collateral vs borrowed (e.g. 150%)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4617719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CD00"/>
                </a:solidFill>
                <a:latin typeface="Calibri"/>
              </a:defRPr>
            </a:pPr>
            <a:r>
              <a:t>Liquidation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4937759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BBBB"/>
                </a:solidFill>
                <a:latin typeface="Calibri"/>
              </a:defRPr>
            </a:pPr>
            <a:r>
              <a:t>Automated sell-off when collateral drops below threshold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5486399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CD00"/>
                </a:solidFill>
                <a:latin typeface="Calibri"/>
              </a:defRPr>
            </a:pPr>
            <a:r>
              <a:t>Utilization Rate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5806439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BBBB"/>
                </a:solidFill>
                <a:latin typeface="Calibri"/>
              </a:defRPr>
            </a:pPr>
            <a:r>
              <a:t>% of pool currently borrowed — drives interest rates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6355079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CD00"/>
                </a:solidFill>
                <a:latin typeface="Calibri"/>
              </a:defRPr>
            </a:pPr>
            <a:r>
              <a:t>Flash Loans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6675119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BBBB"/>
                </a:solidFill>
                <a:latin typeface="Calibri"/>
              </a:defRPr>
            </a:pPr>
            <a:r>
              <a:t>Borrow + repay in single transaction — no collateral needed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7589520"/>
            <a:ext cx="1188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BBBBBB"/>
                </a:solidFill>
                <a:latin typeface="Calibri"/>
              </a:defRPr>
            </a:pPr>
            <a:r>
              <a:t>Protocols: Aave, Compound, Euler, Joule (Movement)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00" cy="54864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371600" y="731520"/>
            <a:ext cx="11887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The DeFi Stack — Composability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463040"/>
            <a:ext cx="1097280" cy="36576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371600" y="2011680"/>
            <a:ext cx="1188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BBBBBB"/>
                </a:solidFill>
                <a:latin typeface="Calibri"/>
              </a:defRPr>
            </a:pPr>
            <a:r>
              <a:t>"Money Legos" — each protocol is a building block that others can plug into.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2926080"/>
            <a:ext cx="11887200" cy="118872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828800" y="30632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CD00"/>
                </a:solidFill>
                <a:latin typeface="Calibri"/>
              </a:defRPr>
            </a:pPr>
            <a:r>
              <a:t>Layer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30632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Aggregators &amp; Frontends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347472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BBBBB"/>
                </a:solidFill>
                <a:latin typeface="Calibri"/>
              </a:defRPr>
            </a:pPr>
            <a:r>
              <a:t>1inch, Zapper, DefiLlama — unified access to multiple protocols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0" y="4297680"/>
            <a:ext cx="11887200" cy="118872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828800" y="44348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Layer 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44348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Applications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484632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BBBBB"/>
                </a:solidFill>
                <a:latin typeface="Calibri"/>
              </a:defRPr>
            </a:pPr>
            <a:r>
              <a:t>Lending (Aave), DEXs (Uniswap), Derivatives (GMX)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371600" y="5669280"/>
            <a:ext cx="11887200" cy="118872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828800" y="58064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B4D8"/>
                </a:solidFill>
                <a:latin typeface="Calibri"/>
              </a:defRPr>
            </a:pPr>
            <a:r>
              <a:t>Layer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58064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Asset Layer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621792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BBBBB"/>
                </a:solidFill>
                <a:latin typeface="Calibri"/>
              </a:defRPr>
            </a:pPr>
            <a:r>
              <a:t>ERC-20 tokens, stablecoins, wrapped assets, LP tokens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371600" y="7040880"/>
            <a:ext cx="11887200" cy="118872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828800" y="7178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E676"/>
                </a:solidFill>
                <a:latin typeface="Calibri"/>
              </a:defRPr>
            </a:pPr>
            <a:r>
              <a:t>Layer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71780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Settlement Layer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0" y="758952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BBBBB"/>
                </a:solidFill>
                <a:latin typeface="Calibri"/>
              </a:defRPr>
            </a:pPr>
            <a:r>
              <a:t>Blockchain (Movement, Ethereum) — consensus &amp; finality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00" cy="54864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371600" y="731520"/>
            <a:ext cx="11887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Building DeFi on Movement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463040"/>
            <a:ext cx="1097280" cy="36576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1371600" y="2103120"/>
            <a:ext cx="5669280" cy="530352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828800" y="22860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CD00"/>
                </a:solidFill>
                <a:latin typeface="Calibri"/>
              </a:defRPr>
            </a:pPr>
            <a:r>
              <a:t>⚡ Movement Advantages for DeFi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30175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BBBBB"/>
                </a:solidFill>
                <a:latin typeface="Calibri"/>
              </a:defRPr>
            </a:pPr>
            <a:r>
              <a:t>•  Sub-second finality for real-time trading</a:t>
            </a:r>
          </a:p>
          <a:p>
            <a:pPr>
              <a:spcAft>
                <a:spcPts val="400"/>
              </a:spcAft>
              <a:defRPr sz="1500">
                <a:solidFill>
                  <a:srgbClr val="BBBBBB"/>
                </a:solidFill>
                <a:latin typeface="Calibri"/>
              </a:defRPr>
            </a:pPr>
            <a:r>
              <a:t>•  Parallel execution → higher throughput</a:t>
            </a:r>
          </a:p>
          <a:p>
            <a:pPr>
              <a:spcAft>
                <a:spcPts val="400"/>
              </a:spcAft>
              <a:defRPr sz="1500">
                <a:solidFill>
                  <a:srgbClr val="BBBBBB"/>
                </a:solidFill>
                <a:latin typeface="Calibri"/>
              </a:defRPr>
            </a:pPr>
            <a:r>
              <a:t>•  Move's safety prevents DeFi exploits</a:t>
            </a:r>
          </a:p>
          <a:p>
            <a:pPr>
              <a:spcAft>
                <a:spcPts val="400"/>
              </a:spcAft>
              <a:defRPr sz="1500">
                <a:solidFill>
                  <a:srgbClr val="BBBBBB"/>
                </a:solidFill>
                <a:latin typeface="Calibri"/>
              </a:defRPr>
            </a:pPr>
            <a:r>
              <a:t>•  EVM compatibility via Fractal</a:t>
            </a:r>
          </a:p>
          <a:p>
            <a:pPr>
              <a:spcAft>
                <a:spcPts val="400"/>
              </a:spcAft>
              <a:defRPr sz="1500">
                <a:solidFill>
                  <a:srgbClr val="BBBBBB"/>
                </a:solidFill>
                <a:latin typeface="Calibri"/>
              </a:defRPr>
            </a:pPr>
            <a:r>
              <a:t>•  Low gas costs for complex DeFi ops</a:t>
            </a:r>
          </a:p>
          <a:p>
            <a:pPr>
              <a:spcAft>
                <a:spcPts val="400"/>
              </a:spcAft>
              <a:defRPr sz="1500">
                <a:solidFill>
                  <a:srgbClr val="BBBBBB"/>
                </a:solidFill>
                <a:latin typeface="Calibri"/>
              </a:defRPr>
            </a:pPr>
            <a:r>
              <a:t>•  Native formal verification tooling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0" y="2103120"/>
            <a:ext cx="5669280" cy="530352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0" y="22860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CD00"/>
                </a:solidFill>
                <a:latin typeface="Calibri"/>
              </a:defRPr>
            </a:pPr>
            <a:r>
              <a:t>🏗️ Movement DeFi Ecosystem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30175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BBBBB"/>
                </a:solidFill>
                <a:latin typeface="Calibri"/>
              </a:defRPr>
            </a:pPr>
            <a:r>
              <a:t>•  Meridian — DEX &amp; AMM</a:t>
            </a:r>
          </a:p>
          <a:p>
            <a:pPr>
              <a:spcAft>
                <a:spcPts val="400"/>
              </a:spcAft>
              <a:defRPr sz="1500">
                <a:solidFill>
                  <a:srgbClr val="BBBBBB"/>
                </a:solidFill>
                <a:latin typeface="Calibri"/>
              </a:defRPr>
            </a:pPr>
            <a:r>
              <a:t>•  Joule — Lending &amp; Borrowing</a:t>
            </a:r>
          </a:p>
          <a:p>
            <a:pPr>
              <a:spcAft>
                <a:spcPts val="400"/>
              </a:spcAft>
              <a:defRPr sz="1500">
                <a:solidFill>
                  <a:srgbClr val="BBBBBB"/>
                </a:solidFill>
                <a:latin typeface="Calibri"/>
              </a:defRPr>
            </a:pPr>
            <a:r>
              <a:t>•  Echelon — Money Markets</a:t>
            </a:r>
          </a:p>
          <a:p>
            <a:pPr>
              <a:spcAft>
                <a:spcPts val="400"/>
              </a:spcAft>
              <a:defRPr sz="1500">
                <a:solidFill>
                  <a:srgbClr val="BBBBBB"/>
                </a:solidFill>
                <a:latin typeface="Calibri"/>
              </a:defRPr>
            </a:pPr>
            <a:r>
              <a:t>•  Mosaic — Stablecoin Infrastructure</a:t>
            </a:r>
          </a:p>
          <a:p>
            <a:pPr>
              <a:spcAft>
                <a:spcPts val="400"/>
              </a:spcAft>
              <a:defRPr sz="1500">
                <a:solidFill>
                  <a:srgbClr val="BBBBBB"/>
                </a:solidFill>
                <a:latin typeface="Calibri"/>
              </a:defRPr>
            </a:pPr>
            <a:r>
              <a:t>•  Canopy — Yield Aggregation</a:t>
            </a:r>
          </a:p>
          <a:p>
            <a:pPr>
              <a:spcAft>
                <a:spcPts val="400"/>
              </a:spcAft>
              <a:defRPr sz="1500">
                <a:solidFill>
                  <a:srgbClr val="BBBBBB"/>
                </a:solidFill>
                <a:latin typeface="Calibri"/>
              </a:defRPr>
            </a:pPr>
            <a:r>
              <a:t>•  ...and growing every week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00" cy="54864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371600" y="2286000"/>
            <a:ext cx="11887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FFFFFF"/>
                </a:solidFill>
                <a:latin typeface="Calibri"/>
              </a:defRPr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657600"/>
            <a:ext cx="11887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FFCD00"/>
                </a:solidFill>
                <a:latin typeface="Calibri"/>
              </a:defRPr>
            </a:pPr>
            <a:r>
              <a:t>Let's build the future of finance — on Movement.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4754880"/>
            <a:ext cx="1828800" cy="36576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371600" y="5303520"/>
            <a:ext cx="1188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BBBBB"/>
                </a:solidFill>
                <a:latin typeface="Calibri"/>
              </a:defRPr>
            </a:pPr>
            <a:r>
              <a:t>movementlabs.xyz  •  docs.movementlabs.xyz  •  @MovementLabsXYZ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5943600"/>
            <a:ext cx="1188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BBBBBB"/>
                </a:solidFill>
                <a:latin typeface="Calibri"/>
              </a:defRPr>
            </a:pPr>
            <a:r>
              <a:t>[Your Name]  •  [your@email.com]  •  Developer Relations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1700</Words>
  <Application>Microsoft Macintosh PowerPoint</Application>
  <PresentationFormat>Custom</PresentationFormat>
  <Paragraphs>298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316316</cp:lastModifiedBy>
  <cp:revision>9</cp:revision>
  <dcterms:created xsi:type="dcterms:W3CDTF">2013-01-27T09:14:16Z</dcterms:created>
  <dcterms:modified xsi:type="dcterms:W3CDTF">2026-02-16T10:57:54Z</dcterms:modified>
  <cp:category/>
</cp:coreProperties>
</file>