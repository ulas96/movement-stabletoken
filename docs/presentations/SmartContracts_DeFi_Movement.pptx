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71" r:id="rId11"/>
    <p:sldId id="264" r:id="rId12"/>
    <p:sldId id="275" r:id="rId13"/>
    <p:sldId id="276" r:id="rId14"/>
    <p:sldId id="277" r:id="rId15"/>
    <p:sldId id="265" r:id="rId16"/>
    <p:sldId id="266" r:id="rId17"/>
    <p:sldId id="268" r:id="rId18"/>
    <p:sldId id="269" r:id="rId19"/>
    <p:sldId id="270" r:id="rId20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86"/>
    <p:restoredTop sz="94668"/>
  </p:normalViewPr>
  <p:slideViewPr>
    <p:cSldViewPr snapToGrid="0" snapToObjects="1">
      <p:cViewPr varScale="1">
        <p:scale>
          <a:sx n="99" d="100"/>
          <a:sy n="99" d="100"/>
        </p:scale>
        <p:origin x="216" y="9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08A303-0D53-C443-AB9E-9AEF478088B4}" type="datetimeFigureOut">
              <a:rPr lang="en-TR" smtClean="0"/>
              <a:t>19.02.2026</a:t>
            </a:fld>
            <a:endParaRPr lang="en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C601C1-7CC1-EF4C-B9D7-5A36E0C48B73}" type="slidenum">
              <a:rPr lang="en-TR" smtClean="0"/>
              <a:t>‹#›</a:t>
            </a:fld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4016852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601C1-7CC1-EF4C-B9D7-5A36E0C48B73}" type="slidenum">
              <a:rPr lang="en-TR" smtClean="0"/>
              <a:t>10</a:t>
            </a:fld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38089990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mailto:ulas@apilium.org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11887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Smart Contracts &amp; DeFi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CD00"/>
                </a:solidFill>
                <a:latin typeface="Calibri"/>
              </a:defRPr>
            </a:pPr>
            <a:r>
              <a:t>A Deep Dive into Programmable Finance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389120"/>
            <a:ext cx="18288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/>
              <a:t>Movement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lang="en-US" dirty="0"/>
              <a:t>Ulaş</a:t>
            </a:r>
            <a:r>
              <a:rPr dirty="0"/>
              <a:t>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dirty="0"/>
              <a:t>Smart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87168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Decentralized Finance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96265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962656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Token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38144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438144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Decentralized Exchanges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1363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13632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Stabletokens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389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8912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Lending &amp; Borrowing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371600" y="486460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64608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Movement DeFi Ecosystem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1371600" y="534009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dirty="0"/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Contracts —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Self-executing code deployed on-chain that enforces agreements without intermediaries.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Same input always</a:t>
            </a:r>
            <a:br/>
            <a:r>
              <a:t>produces same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Transparent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Code is publicly</a:t>
            </a:r>
            <a:br/>
            <a:r>
              <a:t>verifiable on-chain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Composable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Contracts can call</a:t>
            </a:r>
            <a:br/>
            <a:r>
              <a:t>other contracts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Immutable*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Once deployed, code</a:t>
            </a:r>
            <a:br/>
            <a:r>
              <a:t>cannot be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68580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*Upgradeable patterns exist (proxy contracts) but the original bytecode is immutable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Anatomy of a Smart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94360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Core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9260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State Variables — persistent data stored on-chain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Functions — logic that reads/writes state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Events — logs emitted for off-chain listeners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Modifiers — access control &amp; validation guards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Constructor — one-time initialization on deploy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Fallback/Receive — handle unexpected calls &amp; ETH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103120"/>
            <a:ext cx="5943600" cy="5303520"/>
          </a:xfrm>
          <a:prstGeom prst="round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Example Structure (Move)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9260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module my_addr::token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struct Token has key, store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balance: u64,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public entry fun mint(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account: &amp;signer,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amount: u64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)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// mint logic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public fun balance(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addr: address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): u64 { ...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0876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Define requirements,</a:t>
            </a:r>
            <a:br/>
            <a:r>
              <a:t>data model, interfaces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297679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19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Develop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Write code, unit tests,</a:t>
            </a:r>
            <a:br/>
            <a:r>
              <a:t>integration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599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086599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Security review,</a:t>
            </a:r>
            <a:br/>
            <a:r>
              <a:t>formal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87552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Publish to testnet,</a:t>
            </a:r>
            <a:br/>
            <a:r>
              <a:t>then mainnet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266444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Track events, upgrade</a:t>
            </a:r>
            <a:br/>
            <a:r>
              <a:t>if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94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Reentrancy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Recursive calls drain funds before state updates — use checks-effects-interactions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Integer Overflow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20624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Arithmetic errors lead to unexpected values — use safe math or Move's built-in safety.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212079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5303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3035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Access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760719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Missing permission checks let anyone call privileged functions — always validate callers.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566928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🛡️  Why Move is Safer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175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Resource-oriented: assets can't be copied or lost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No reentrancy by design — linear type system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Formal verification built into the toolchain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Bytecode verification before execution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Explicit ownership &amp; borrow semantics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No dynamic dispatch — predictable execution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Introduction to DeFi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Decentralized Finance (DeFi) recreates traditional financial services using smart contracts — open, permissionless, and composable.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Open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No KYC, no minimum</a:t>
            </a:r>
            <a:br/>
            <a:r>
              <a:t>balance — anyone</a:t>
            </a:r>
            <a:br/>
            <a:r>
              <a:t>with a wallet can use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Composable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Protocols plug into</a:t>
            </a:r>
            <a:br/>
            <a:r>
              <a:t>each other like</a:t>
            </a:r>
            <a:br/>
            <a:r>
              <a:t>building blocks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👁️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Transparent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All transactions and</a:t>
            </a:r>
            <a:br/>
            <a:r>
              <a:t>logic are publicly</a:t>
            </a:r>
            <a:br/>
            <a:r>
              <a:t>auditable on-chain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Non-Custodial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Users retain full</a:t>
            </a:r>
            <a:br/>
            <a:r>
              <a:t>control — no one</a:t>
            </a:r>
            <a:br/>
            <a:r>
              <a:t>can freeze your funds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Token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Standards define how tokens behave — enabling interoperability across wallets, DEXs, and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💰  ERC-20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Fungible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Identical &amp; interchangeable (like currency)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transfer(), approve(), balanceOf()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USDC, LINK, UNI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Move equivalent: Coin standard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🎨  ERC-721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Non-Fungible Tokens (NFTs)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Each token is unique with a tokenId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ownerOf(), transferFrom(), metadata URI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CryptoPunks, art, PFPs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Move equivalent: Object / Token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6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🎮  ERC-1155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Multi-Token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Batch operations for fungible + non-fungible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Single contract manages multiple token types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Gas-efficient for gaming &amp; collections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Ideal for in-game items &amp; editions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On-Chain Trading — DEXs &amp; AMMs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Trade assets directly from your wallet using liquidity pools instead of order books.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926080"/>
            <a:ext cx="59436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Automated Market Makers (AMMs)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57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Replace order books with x * y = k formula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Liquidity Providers deposit token pairs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Price adjusts automatically based on pool ratio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Anyone can trade — no counterparty matching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26080"/>
            <a:ext cx="59436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Order Book DEXs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657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On-chain limit orders like traditional exchanges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Better price discovery &amp; less slippage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Requires high throughput (Movement advantage!)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dYdX, Econia, Meridian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486400"/>
            <a:ext cx="11887200" cy="20116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288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Key Trading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Slippage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Price difference between</a:t>
            </a:r>
            <a:br/>
            <a:r>
              <a:t>expected and executed trade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Impermanent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 value loss when token</a:t>
            </a:r>
            <a:br/>
            <a:r>
              <a:t>prices diverge from deposit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Miners/validators reorder txns</a:t>
            </a:r>
            <a:br/>
            <a:r>
              <a:t>for profit (sandwich attacks)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Concentrated Liquidity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LPs focus capital in specific</a:t>
            </a:r>
            <a:br/>
            <a:r>
              <a:t>price ranges for efficiency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AMM Deep Dive — Liquidity Providing &amp; Swapping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How liquidity pools enable trustless trading — and how LPs and swappers depend on each other.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23558" cy="5221224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6035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rPr dirty="0"/>
              <a:t>  Liquidity Providing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7180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Deposit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461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 deposits equal value of two tokens</a:t>
            </a:r>
            <a:br/>
            <a:r>
              <a:t>(e.g. $500 ETH + $500 USDC)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160520"/>
            <a:ext cx="365760" cy="36576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Receive LP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434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Pool mints LP tokens representing</a:t>
            </a:r>
            <a:br/>
            <a:r>
              <a:t>your share of the total pool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349240"/>
            <a:ext cx="365760" cy="36576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D00"/>
                </a:solidFill>
                <a:latin typeface="Calibri"/>
              </a:defRPr>
            </a:pPr>
            <a:r>
              <a:t>Earn Fees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Every swap pays 0.3% fee — distributed</a:t>
            </a:r>
            <a:br/>
            <a:r>
              <a:t>proportionally to all LP token holders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6537960"/>
            <a:ext cx="365760" cy="36576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  <a:latin typeface="Calibri"/>
              </a:defRPr>
            </a:pPr>
            <a:r>
              <a:t>Withdraw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68122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Burn LP tokens to reclaim your share</a:t>
            </a:r>
            <a:br/>
            <a:r>
              <a:t>of both tokens (may differ from deposit)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2" y="2139696"/>
            <a:ext cx="5623558" cy="5221224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2" y="2231136"/>
            <a:ext cx="6035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Calibri"/>
              </a:defRPr>
            </a:pPr>
            <a:r>
              <a:rPr dirty="0"/>
              <a:t>Swapping (Trading)</a:t>
            </a:r>
          </a:p>
        </p:txBody>
      </p:sp>
      <p:sp>
        <p:nvSpPr>
          <p:cNvPr id="22" name="Oval 21"/>
          <p:cNvSpPr/>
          <p:nvPr/>
        </p:nvSpPr>
        <p:spPr>
          <a:xfrm>
            <a:off x="8549641" y="2825496"/>
            <a:ext cx="365760" cy="36576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2" y="277977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Submit 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2" y="309981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Trader sends Token A to the pool</a:t>
            </a:r>
            <a:br/>
            <a:r>
              <a:t>and specifies desired Token B</a:t>
            </a:r>
          </a:p>
        </p:txBody>
      </p:sp>
      <p:sp>
        <p:nvSpPr>
          <p:cNvPr id="25" name="Oval 24"/>
          <p:cNvSpPr/>
          <p:nvPr/>
        </p:nvSpPr>
        <p:spPr>
          <a:xfrm>
            <a:off x="8549641" y="4014216"/>
            <a:ext cx="365760" cy="36576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2" y="39684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D00"/>
                </a:solidFill>
                <a:latin typeface="Calibri"/>
              </a:defRPr>
            </a:pPr>
            <a:r>
              <a:t>Price Calculated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2" y="428853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AMM uses x × y = k formula</a:t>
            </a:r>
            <a:br/>
            <a:r>
              <a:t>Price = ratio of tokens in pool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1" y="5202936"/>
            <a:ext cx="365760" cy="36576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2" y="51572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  <a:latin typeface="Calibri"/>
              </a:defRPr>
            </a:pPr>
            <a:r>
              <a:t>Slippage Applied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2" y="547725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Larger trades move the price more</a:t>
            </a:r>
            <a:br/>
            <a:r>
              <a:t>(higher slippage = worse rate)</a:t>
            </a:r>
          </a:p>
        </p:txBody>
      </p:sp>
      <p:sp>
        <p:nvSpPr>
          <p:cNvPr id="31" name="Oval 30"/>
          <p:cNvSpPr/>
          <p:nvPr/>
        </p:nvSpPr>
        <p:spPr>
          <a:xfrm>
            <a:off x="8549641" y="6391656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2" y="63459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Tokens Received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2" y="666597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Pool sends Token B to the trader</a:t>
            </a:r>
            <a:br/>
            <a:r>
              <a:t>minus the swap fee (→ goes to LPs)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2889504"/>
            <a:ext cx="12801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3438143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CD00"/>
                </a:solidFill>
                <a:latin typeface="Calibri"/>
              </a:defRPr>
            </a:pPr>
            <a:r>
              <a:rPr dirty="0"/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373075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CD00"/>
                </a:solidFill>
                <a:latin typeface="Calibri"/>
              </a:defRPr>
            </a:pPr>
            <a:r>
              <a:rPr dirty="0"/>
              <a:t>LINK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4261104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LPs provide</a:t>
            </a:r>
            <a:br/>
            <a:r>
              <a:t>the liquidity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946904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Swappers</a:t>
            </a:r>
            <a:br/>
            <a:r>
              <a:t>pay the fees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632704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Fees reward</a:t>
            </a:r>
            <a:br/>
            <a:r>
              <a:t>the LPs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6318504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More LPs →</a:t>
            </a:r>
            <a:br/>
            <a:r>
              <a:t>less slippage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7635240"/>
            <a:ext cx="137160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7726679"/>
            <a:ext cx="1371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💡  Symbiotic relationship: LPs need swappers to generate fees — swappers need LPs for deep liquidity &amp; low slippage. More volume → more fees → attracts more LPs → deeper liquidity → less slippage → more volume.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1097280" y="640080"/>
            <a:ext cx="12436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Stable</a:t>
            </a:r>
            <a:r>
              <a:rPr lang="en-US" dirty="0" err="1"/>
              <a:t>tokens</a:t>
            </a:r>
            <a:r>
              <a:rPr dirty="0"/>
              <a:t> — A Better Framework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097280" y="1554480"/>
            <a:ext cx="1243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rPr dirty="0"/>
              <a:t>The traditional Fiat / Crypto / Algorithmic split conflates independent properties. Evaluate every </a:t>
            </a:r>
            <a:r>
              <a:rPr lang="en-US" dirty="0" err="1"/>
              <a:t>stabletoken</a:t>
            </a:r>
            <a:r>
              <a:rPr dirty="0"/>
              <a:t> on three separate axes instead.</a:t>
            </a:r>
          </a:p>
        </p:txBody>
      </p:sp>
      <p:sp>
        <p:nvSpPr>
          <p:cNvPr id="10" name="Card1Bg"/>
          <p:cNvSpPr/>
          <p:nvPr/>
        </p:nvSpPr>
        <p:spPr>
          <a:xfrm>
            <a:off x="1097280" y="2194560"/>
            <a:ext cx="3932640" cy="576096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Card1Header"/>
          <p:cNvSpPr/>
          <p:nvPr/>
        </p:nvSpPr>
        <p:spPr>
          <a:xfrm>
            <a:off x="1097280" y="2194560"/>
            <a:ext cx="3932640" cy="457200"/>
          </a:xfrm>
          <a:prstGeom prst="round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l">
              <a:defRPr sz="2200" b="1">
                <a:solidFill>
                  <a:srgbClr val="0D0D0D"/>
                </a:solidFill>
                <a:latin typeface="Calibri"/>
              </a:defRPr>
            </a:pPr>
            <a:r>
              <a:rPr lang="en-US" dirty="0"/>
              <a:t>  01</a:t>
            </a:r>
          </a:p>
        </p:txBody>
      </p:sp>
      <p:sp>
        <p:nvSpPr>
          <p:cNvPr id="12" name="Card1Content"/>
          <p:cNvSpPr txBox="1"/>
          <p:nvPr/>
        </p:nvSpPr>
        <p:spPr>
          <a:xfrm>
            <a:off x="1280160" y="2743200"/>
            <a:ext cx="3566160" cy="166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Relative Stability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FFCD00"/>
                </a:solidFill>
                <a:latin typeface="Calibri"/>
              </a:defRPr>
            </a:pPr>
            <a:r>
              <a:rPr dirty="0"/>
              <a:t>Pegged vs. Floating</a:t>
            </a:r>
          </a:p>
          <a:p>
            <a:pPr algn="l">
              <a:spcAft>
                <a:spcPts val="350"/>
              </a:spcAft>
              <a:defRPr sz="1300" b="0">
                <a:solidFill>
                  <a:srgbClr val="AAAAAA"/>
                </a:solidFill>
                <a:latin typeface="Calibri"/>
              </a:defRPr>
            </a:pPr>
            <a:r>
              <a:rPr dirty="0"/>
              <a:t>What is the </a:t>
            </a:r>
            <a:r>
              <a:rPr lang="en-US" dirty="0" err="1"/>
              <a:t>stabletoken</a:t>
            </a:r>
            <a:r>
              <a:rPr dirty="0"/>
              <a:t> stable relative to?</a:t>
            </a:r>
          </a:p>
          <a:p>
            <a:pPr algn="l">
              <a:spcAft>
                <a:spcPts val="25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 dirty="0">
                <a:solidFill>
                  <a:srgbClr val="FFFFFF"/>
                </a:solidFill>
              </a:rPr>
              <a:t>Pegged: </a:t>
            </a:r>
            <a:r>
              <a:rPr dirty="0">
                <a:solidFill>
                  <a:srgbClr val="CCCCCC"/>
                </a:solidFill>
              </a:rPr>
              <a:t>tracks another asset (e.g. $1 USD)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 dirty="0">
                <a:solidFill>
                  <a:srgbClr val="FFFFFF"/>
                </a:solidFill>
              </a:rPr>
              <a:t>Floating: </a:t>
            </a:r>
            <a:r>
              <a:rPr dirty="0">
                <a:solidFill>
                  <a:srgbClr val="CCCCCC"/>
                </a:solidFill>
              </a:rPr>
              <a:t>maintains buying power, no fixed peg</a:t>
            </a:r>
          </a:p>
          <a:p>
            <a:pPr algn="l">
              <a:spcAft>
                <a:spcPts val="0"/>
              </a:spcAft>
              <a:defRPr sz="1200" b="0" i="1">
                <a:solidFill>
                  <a:srgbClr val="00B4D8"/>
                </a:solidFill>
                <a:latin typeface="Calibri"/>
              </a:defRPr>
            </a:pPr>
            <a:r>
              <a:rPr dirty="0"/>
              <a:t>USDC, DAI (pegged)  •  RAI (floating)</a:t>
            </a:r>
          </a:p>
        </p:txBody>
      </p:sp>
      <p:sp>
        <p:nvSpPr>
          <p:cNvPr id="20" name="Card2Bg"/>
          <p:cNvSpPr/>
          <p:nvPr/>
        </p:nvSpPr>
        <p:spPr>
          <a:xfrm>
            <a:off x="5394960" y="2194560"/>
            <a:ext cx="3932640" cy="576096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Card2Header"/>
          <p:cNvSpPr/>
          <p:nvPr/>
        </p:nvSpPr>
        <p:spPr>
          <a:xfrm>
            <a:off x="5394960" y="2194560"/>
            <a:ext cx="3932640" cy="45720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  02</a:t>
            </a:r>
          </a:p>
        </p:txBody>
      </p:sp>
      <p:sp>
        <p:nvSpPr>
          <p:cNvPr id="22" name="Card2Content"/>
          <p:cNvSpPr txBox="1"/>
          <p:nvPr/>
        </p:nvSpPr>
        <p:spPr>
          <a:xfrm>
            <a:off x="5578560" y="2743200"/>
            <a:ext cx="3566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Stability Method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00B4D8"/>
                </a:solidFill>
                <a:latin typeface="Calibri"/>
              </a:defRPr>
            </a:pPr>
            <a:r>
              <a:t>Governed vs. Algorithmic</a:t>
            </a:r>
          </a:p>
          <a:p>
            <a:pPr algn="l">
              <a:spcAft>
                <a:spcPts val="350"/>
              </a:spcAft>
              <a:defRPr sz="1300" b="0">
                <a:solidFill>
                  <a:srgbClr val="AAAAAA"/>
                </a:solidFill>
                <a:latin typeface="Calibri"/>
              </a:defRPr>
            </a:pPr>
            <a:r>
              <a:t>Who or what controls minting and burning?</a:t>
            </a:r>
          </a:p>
          <a:p>
            <a:pPr algn="l">
              <a:spcAft>
                <a:spcPts val="25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Governed: </a:t>
            </a:r>
            <a:r>
              <a:rPr>
                <a:solidFill>
                  <a:srgbClr val="CCCCCC"/>
                </a:solidFill>
              </a:rPr>
              <a:t>a centralized body controls supply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Algorithmic: </a:t>
            </a:r>
            <a:r>
              <a:rPr>
                <a:solidFill>
                  <a:srgbClr val="CCCCCC"/>
                </a:solidFill>
              </a:rPr>
              <a:t>permissionless code controls supply</a:t>
            </a:r>
          </a:p>
          <a:p>
            <a:pPr algn="l">
              <a:spcAft>
                <a:spcPts val="0"/>
              </a:spcAft>
              <a:defRPr sz="1200" b="0" i="1">
                <a:solidFill>
                  <a:srgbClr val="00B4D8"/>
                </a:solidFill>
                <a:latin typeface="Calibri"/>
              </a:defRPr>
            </a:pPr>
            <a:r>
              <a:t>USDC (governed)  •  DAI, RAI, UST (algorithmic)</a:t>
            </a:r>
          </a:p>
        </p:txBody>
      </p:sp>
      <p:sp>
        <p:nvSpPr>
          <p:cNvPr id="30" name="Card3Bg"/>
          <p:cNvSpPr/>
          <p:nvPr/>
        </p:nvSpPr>
        <p:spPr>
          <a:xfrm>
            <a:off x="9692640" y="2194560"/>
            <a:ext cx="3932640" cy="576096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Card3Header"/>
          <p:cNvSpPr/>
          <p:nvPr/>
        </p:nvSpPr>
        <p:spPr>
          <a:xfrm>
            <a:off x="9692640" y="2194560"/>
            <a:ext cx="3932640" cy="4572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  03</a:t>
            </a:r>
          </a:p>
        </p:txBody>
      </p:sp>
      <p:sp>
        <p:nvSpPr>
          <p:cNvPr id="32" name="Card3Content"/>
          <p:cNvSpPr txBox="1"/>
          <p:nvPr/>
        </p:nvSpPr>
        <p:spPr>
          <a:xfrm>
            <a:off x="9875520" y="2743200"/>
            <a:ext cx="3566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Collateral Type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02C39A"/>
                </a:solidFill>
                <a:latin typeface="Calibri"/>
              </a:defRPr>
            </a:pPr>
            <a:r>
              <a:t>Exogenous vs. Endogenous</a:t>
            </a:r>
          </a:p>
          <a:p>
            <a:pPr algn="l">
              <a:spcAft>
                <a:spcPts val="350"/>
              </a:spcAft>
              <a:defRPr sz="1300" b="0">
                <a:solidFill>
                  <a:srgbClr val="AAAAAA"/>
                </a:solidFill>
                <a:latin typeface="Calibri"/>
              </a:defRPr>
            </a:pPr>
            <a:r>
              <a:t>Where does the backing value come from?</a:t>
            </a:r>
          </a:p>
          <a:p>
            <a:pPr algn="l">
              <a:spcAft>
                <a:spcPts val="25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Exogenous: </a:t>
            </a:r>
            <a:r>
              <a:rPr>
                <a:solidFill>
                  <a:srgbClr val="CCCCCC"/>
                </a:solidFill>
              </a:rPr>
              <a:t>collateral exists outside the protocol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Endogenous: </a:t>
            </a:r>
            <a:r>
              <a:rPr>
                <a:solidFill>
                  <a:srgbClr val="CCCCCC"/>
                </a:solidFill>
              </a:rPr>
              <a:t>collateral is created by the protocol itself</a:t>
            </a:r>
          </a:p>
          <a:p>
            <a:pPr algn="l">
              <a:spcAft>
                <a:spcPts val="0"/>
              </a:spcAft>
              <a:defRPr sz="1200" b="0" i="1">
                <a:solidFill>
                  <a:srgbClr val="00B4D8"/>
                </a:solidFill>
                <a:latin typeface="Calibri"/>
              </a:defRPr>
            </a:pPr>
            <a:r>
              <a:t>USDC, DAI (exogenous)  •  UST/Luna (endogenous)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Pill"/>
          <p:cNvSpPr/>
          <p:nvPr/>
        </p:nvSpPr>
        <p:spPr>
          <a:xfrm>
            <a:off x="1371600" y="548640"/>
            <a:ext cx="2743200" cy="365760"/>
          </a:xfrm>
          <a:prstGeom prst="round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>
              <a:defRPr sz="1200" b="1">
                <a:solidFill>
                  <a:srgbClr val="0D0D0D"/>
                </a:solidFill>
                <a:latin typeface="Calibri"/>
              </a:defRPr>
            </a:pPr>
            <a:r>
              <a:t>AXIS 01 of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371600" y="100584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Relative Stability — Pegged vs. Floating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1371600" y="1828800"/>
            <a:ext cx="1188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Stability is always relative to something else — what is the </a:t>
            </a:r>
            <a:r>
              <a:rPr dirty="0" err="1"/>
              <a:t>stable</a:t>
            </a:r>
            <a:r>
              <a:rPr lang="en-US" dirty="0" err="1"/>
              <a:t>token</a:t>
            </a:r>
            <a:r>
              <a:rPr dirty="0"/>
              <a:t> measuring itself against?</a:t>
            </a:r>
          </a:p>
        </p:txBody>
      </p:sp>
      <p:sp>
        <p:nvSpPr>
          <p:cNvPr id="10" name="CardPegged"/>
          <p:cNvSpPr/>
          <p:nvPr/>
        </p:nvSpPr>
        <p:spPr>
          <a:xfrm>
            <a:off x="109728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CardPeggedBar"/>
          <p:cNvSpPr/>
          <p:nvPr/>
        </p:nvSpPr>
        <p:spPr>
          <a:xfrm>
            <a:off x="1097280" y="2468880"/>
            <a:ext cx="5943600" cy="91440"/>
          </a:xfrm>
          <a:prstGeom prst="round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CardPeggedContent"/>
          <p:cNvSpPr txBox="1"/>
          <p:nvPr/>
        </p:nvSpPr>
        <p:spPr>
          <a:xfrm>
            <a:off x="1371600" y="265176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CD00"/>
                </a:solidFill>
                <a:latin typeface="Calibri"/>
              </a:defRPr>
            </a:pPr>
            <a:r>
              <a:t>Pegged / Anchored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The most common type. The coin tracks another asset — usually $1 USD — using mechanisms that make it nearly interchangeable with the target.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USDC: 1 token redeemable for $1 USD in reserves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DAI: over-collateralized crypto positions maintain $1 peg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Tether (USDT): centralized reserves hold the peg</a:t>
            </a:r>
          </a:p>
        </p:txBody>
      </p:sp>
      <p:sp>
        <p:nvSpPr>
          <p:cNvPr id="20" name="CardFloating"/>
          <p:cNvSpPr/>
          <p:nvPr/>
        </p:nvSpPr>
        <p:spPr>
          <a:xfrm>
            <a:off x="758880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CardFloatingBar"/>
          <p:cNvSpPr/>
          <p:nvPr/>
        </p:nvSpPr>
        <p:spPr>
          <a:xfrm>
            <a:off x="7588800" y="2468880"/>
            <a:ext cx="5943600" cy="9144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CardFloatingContent"/>
          <p:cNvSpPr txBox="1"/>
          <p:nvPr/>
        </p:nvSpPr>
        <p:spPr>
          <a:xfrm>
            <a:off x="7863120" y="265176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00B4D8"/>
                </a:solidFill>
                <a:latin typeface="Calibri"/>
              </a:defRPr>
            </a:pPr>
            <a:r>
              <a:t>Floating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Not pegged to any external asset. Instead it targets stable buying power — the ability to purchase the same basket of goods over time.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Hypothetically more stable than a pegged coin — immune to the inflation of the pegged asset itself.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RAI: purely algorithmic, ETH-backed, truly floating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No central authority controls minting or burning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Pill"/>
          <p:cNvSpPr/>
          <p:nvPr/>
        </p:nvSpPr>
        <p:spPr>
          <a:xfrm>
            <a:off x="1371600" y="548640"/>
            <a:ext cx="2743200" cy="36576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AXIS 02 of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371600" y="100584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Stability Method — Governed vs. Algorithmic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1371600" y="182880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Who or what decides when tokens are minted and burned to maintain the peg or buying power target?</a:t>
            </a:r>
          </a:p>
        </p:txBody>
      </p:sp>
      <p:sp>
        <p:nvSpPr>
          <p:cNvPr id="10" name="CardGoverned"/>
          <p:cNvSpPr/>
          <p:nvPr/>
        </p:nvSpPr>
        <p:spPr>
          <a:xfrm>
            <a:off x="109728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CardGovernedBar"/>
          <p:cNvSpPr/>
          <p:nvPr/>
        </p:nvSpPr>
        <p:spPr>
          <a:xfrm>
            <a:off x="1097280" y="2468880"/>
            <a:ext cx="5943600" cy="91440"/>
          </a:xfrm>
          <a:prstGeom prst="round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CardGovernedContent"/>
          <p:cNvSpPr txBox="1"/>
          <p:nvPr/>
        </p:nvSpPr>
        <p:spPr>
          <a:xfrm>
            <a:off x="1371600" y="265176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CD00"/>
                </a:solidFill>
                <a:latin typeface="Calibri"/>
              </a:defRPr>
            </a:pPr>
            <a:r>
              <a:t>Governed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A centralized or semi-centralized body with discretion over when tokens are minted and burned. Human decision-making is in the loop.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USDC: Circle controls minting and burning exclusively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Tether (USDT): Tether Ltd. manages reserves and supply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Most fiat-backed coins are purely governed</a:t>
            </a:r>
          </a:p>
        </p:txBody>
      </p:sp>
      <p:sp>
        <p:nvSpPr>
          <p:cNvPr id="20" name="CardAlgo"/>
          <p:cNvSpPr/>
          <p:nvPr/>
        </p:nvSpPr>
        <p:spPr>
          <a:xfrm>
            <a:off x="758880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CardAlgoBar"/>
          <p:cNvSpPr/>
          <p:nvPr/>
        </p:nvSpPr>
        <p:spPr>
          <a:xfrm>
            <a:off x="7588800" y="2468880"/>
            <a:ext cx="5943600" cy="9144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CardAlgoContent"/>
          <p:cNvSpPr txBox="1"/>
          <p:nvPr/>
        </p:nvSpPr>
        <p:spPr>
          <a:xfrm>
            <a:off x="7863120" y="265176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00B4D8"/>
                </a:solidFill>
                <a:latin typeface="Calibri"/>
              </a:defRPr>
            </a:pPr>
            <a:r>
              <a:t>Algorithmic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Permissionless smart contract code autonomously controls minting and burning. No single entity has discretion — the protocol reacts to market conditions on-chain.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RAI: nearly pure — no governance, code-only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DAI: hybrid — autonomous rules + MakerDAO votes on parameters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• UST: almost purely algorithmic, which amplified its collapse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Pill"/>
          <p:cNvSpPr/>
          <p:nvPr/>
        </p:nvSpPr>
        <p:spPr>
          <a:xfrm>
            <a:off x="1371600" y="548640"/>
            <a:ext cx="2743200" cy="36576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AXIS 03 of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371600" y="100584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Collateral Type — Exogenous vs. Endogenous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1371600" y="1828800"/>
            <a:ext cx="1188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The most critical axis for risk assessment. Key test: if the </a:t>
            </a:r>
            <a:r>
              <a:rPr lang="en-US" dirty="0" err="1"/>
              <a:t>stabletoken</a:t>
            </a:r>
            <a:r>
              <a:rPr dirty="0"/>
              <a:t> fails, does the collateral also fail?</a:t>
            </a:r>
          </a:p>
        </p:txBody>
      </p:sp>
      <p:sp>
        <p:nvSpPr>
          <p:cNvPr id="10" name="CardExo"/>
          <p:cNvSpPr/>
          <p:nvPr/>
        </p:nvSpPr>
        <p:spPr>
          <a:xfrm>
            <a:off x="109728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CardExoBar"/>
          <p:cNvSpPr/>
          <p:nvPr/>
        </p:nvSpPr>
        <p:spPr>
          <a:xfrm>
            <a:off x="1097280" y="2468880"/>
            <a:ext cx="5943600" cy="9144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CardExoContent"/>
          <p:cNvSpPr txBox="1"/>
          <p:nvPr/>
        </p:nvSpPr>
        <p:spPr>
          <a:xfrm>
            <a:off x="1371600" y="2651760"/>
            <a:ext cx="548640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400" b="1">
                <a:solidFill>
                  <a:srgbClr val="02C39A"/>
                </a:solidFill>
                <a:latin typeface="Calibri"/>
              </a:defRPr>
            </a:pPr>
            <a:r>
              <a:rPr dirty="0"/>
              <a:t>Exogenous — Safer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Collateral originates outside the protocol and has independent value. If the </a:t>
            </a:r>
            <a:r>
              <a:rPr lang="en-US" dirty="0" err="1"/>
              <a:t>stabletoken</a:t>
            </a:r>
            <a:r>
              <a:rPr dirty="0"/>
              <a:t> collapses, the collateral survives.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USDC fails? The US dollar keeps existing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DAI fails? ETH keeps existing and has value</a:t>
            </a:r>
          </a:p>
          <a:p>
            <a:pPr algn="l">
              <a:spcAft>
                <a:spcPts val="200"/>
              </a:spcAft>
              <a:defRPr sz="1200" b="1">
                <a:solidFill>
                  <a:srgbClr val="02C39A"/>
                </a:solidFill>
                <a:latin typeface="Calibri"/>
              </a:defRPr>
            </a:pPr>
            <a:r>
              <a:rPr dirty="0"/>
              <a:t>Limitation: cannot scale beyond onboarded collateral</a:t>
            </a:r>
          </a:p>
        </p:txBody>
      </p:sp>
      <p:sp>
        <p:nvSpPr>
          <p:cNvPr id="20" name="CardEndo"/>
          <p:cNvSpPr/>
          <p:nvPr/>
        </p:nvSpPr>
        <p:spPr>
          <a:xfrm>
            <a:off x="7588800" y="2468880"/>
            <a:ext cx="5943600" cy="50292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CardEndoBar"/>
          <p:cNvSpPr/>
          <p:nvPr/>
        </p:nvSpPr>
        <p:spPr>
          <a:xfrm>
            <a:off x="7588800" y="2468880"/>
            <a:ext cx="5943600" cy="91440"/>
          </a:xfrm>
          <a:prstGeom prst="roundRect">
            <a:avLst/>
          </a:prstGeom>
          <a:solidFill>
            <a:srgbClr val="F96167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CardEndoContent"/>
          <p:cNvSpPr txBox="1"/>
          <p:nvPr/>
        </p:nvSpPr>
        <p:spPr>
          <a:xfrm>
            <a:off x="7863120" y="2651760"/>
            <a:ext cx="5486400" cy="17363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2400" b="1">
                <a:solidFill>
                  <a:srgbClr val="F96167"/>
                </a:solidFill>
                <a:latin typeface="Calibri"/>
              </a:defRPr>
            </a:pPr>
            <a:r>
              <a:rPr dirty="0"/>
              <a:t>Endogenous — High Risk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Collateral was created by and for the protocol. Its value is reflexive — collateral and </a:t>
            </a:r>
            <a:r>
              <a:rPr lang="en-US" dirty="0" err="1"/>
              <a:t>stabletoken</a:t>
            </a:r>
            <a:r>
              <a:rPr dirty="0"/>
              <a:t> rise and fall together.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UST fails? Luna also collapses — $40B wiped in days</a:t>
            </a:r>
          </a:p>
          <a:p>
            <a:pPr algn="l">
              <a:spcAft>
                <a:spcPts val="15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Tests: Was collateral created solely to be collateral? Does protocol own collateral issuance? If yes — endogenous.</a:t>
            </a:r>
          </a:p>
          <a:p>
            <a:pPr algn="l">
              <a:spcAft>
                <a:spcPts val="200"/>
              </a:spcAft>
              <a:defRPr sz="1200" b="1">
                <a:solidFill>
                  <a:srgbClr val="F96167"/>
                </a:solidFill>
                <a:latin typeface="Calibri"/>
              </a:defRPr>
            </a:pPr>
            <a:r>
              <a:rPr dirty="0"/>
              <a:t>Advantage: can scale without onboarding real collateral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stabletoken</a:t>
            </a:r>
            <a:r>
              <a:rPr dirty="0"/>
              <a:t> Lifecycle —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1188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The four core mechanisms that keep </a:t>
            </a:r>
            <a:r>
              <a:rPr lang="en-US" dirty="0"/>
              <a:t>stabletoken</a:t>
            </a:r>
            <a:r>
              <a:rPr dirty="0"/>
              <a:t>s functioning: Deposit → Mint → Burn → Liquidation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91640" y="2788920"/>
            <a:ext cx="502920" cy="5029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📥  DEPOSIT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Lock Collateral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2834640" cy="1821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User deposits collateral (</a:t>
            </a:r>
            <a:r>
              <a:rPr lang="en-US" dirty="0"/>
              <a:t>MOVE,</a:t>
            </a:r>
            <a:r>
              <a:rPr dirty="0"/>
              <a:t> BTC, etc.) into a Vault / CDP smart contract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Collateral is locked and tracked on-chain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Collateral ratio must exceed minimum (e.g. 150%)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Over-collateralization protects against volatility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Vault records the user's position &amp; debt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166360" y="2788920"/>
            <a:ext cx="502920" cy="50292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  <a:latin typeface="Calibri"/>
              </a:defRPr>
            </a:pPr>
            <a:r>
              <a:t>🪙  MINT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8404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Create </a:t>
            </a:r>
            <a:r>
              <a:rPr lang="en-US" dirty="0"/>
              <a:t>stabletoken</a:t>
            </a:r>
            <a:r>
              <a:rPr dirty="0"/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389120"/>
            <a:ext cx="2834640" cy="1651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Smart contract mints new </a:t>
            </a:r>
            <a:r>
              <a:rPr lang="en-US" dirty="0"/>
              <a:t>stabletoken</a:t>
            </a:r>
            <a:r>
              <a:rPr dirty="0"/>
              <a:t>s against locked collateral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Amount minted is limited by collateral ratio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e.g. $1500 ETH → mint up to $1000 </a:t>
            </a:r>
            <a:r>
              <a:rPr lang="en-US" dirty="0"/>
              <a:t>stabletoken</a:t>
            </a:r>
            <a:r>
              <a:rPr dirty="0"/>
              <a:t>s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Minted tokens are sent to the user's wallet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Debt is recorded — user now owes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79" y="2788920"/>
            <a:ext cx="502920" cy="50292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399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A500"/>
                </a:solidFill>
                <a:latin typeface="Calibri"/>
              </a:defRPr>
            </a:pPr>
            <a:r>
              <a:t>🔥  BURN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99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Repay &amp; Redeem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389120"/>
            <a:ext cx="2834640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User returns </a:t>
            </a:r>
            <a:r>
              <a:rPr lang="en-US" dirty="0"/>
              <a:t>stabletoken</a:t>
            </a:r>
            <a:r>
              <a:rPr dirty="0"/>
              <a:t>s to repay debt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Smart contract burns (destroys) the returned tokens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Reduces total supply — maintaining the peg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Collateral is unlocked and returned to user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Stability fee (interest) may be charged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59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2115800" y="278892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6B"/>
                </a:solidFill>
                <a:latin typeface="Calibri"/>
              </a:defRPr>
            </a:pPr>
            <a:r>
              <a:t>⚠️  LIQUIDATION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Forced Closure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438912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Triggered when collateral ratio falls below minimum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Oracle price feeds detect the collateral value drop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Liquidators repay the debt at a discount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They receive collateral + liquidation bonus (5-10%)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Protects protocol from under-collateralization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7635240"/>
            <a:ext cx="1353312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7726679"/>
            <a:ext cx="1353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💡  This cycle maintains the peg: minting increases supply when demand is high, burning decreases it when low, and liquidation ensures solvency.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Lending &amp; Borrowing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Earn yield by supplying assets, or borrow against your collateral — all without a bank.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926080"/>
            <a:ext cx="5943600" cy="4572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749039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Lenders deposit assets into a lending pool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Pool issues interest-bearing tokens (aTokens, cTokens)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Borrowers deposit collateral and borrow from pool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Interest rates adjust algorithmically based on utilization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If collateral value drops → liquidation kicks in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Everything automated — no credit checks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26080"/>
            <a:ext cx="5943600" cy="4572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749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Collateral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0690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How much collateral vs borrowed (e.g. 150%)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177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Liquidation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9377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Automated sell-off when collateral drops below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486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Utilization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8064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% of pool currently borrowed — drives interest rates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3550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Flash Loans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6751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Borrow + repay in single transaction — no collateral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75895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Protocols: Aave, Compound, Euler, Joule (Movement)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DeFi Stack — Composability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"Money Legos" — each protocol is a building block that others can plug into.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56032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2697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Layer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697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Aggregators &amp; Frontends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108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1inch, Zapper, DefiLlama — unified access to multiple protocols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93192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4069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Layer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480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Lending (Aave), DEXs (Uniswap), Derivatives (GMX)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530352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28800" y="5440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4D8"/>
                </a:solidFill>
                <a:latin typeface="Calibri"/>
              </a:defRPr>
            </a:pPr>
            <a:r>
              <a:t>Layer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5440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Asset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85216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ERC-20 tokens, </a:t>
            </a:r>
            <a:r>
              <a:rPr lang="en-US" dirty="0" err="1"/>
              <a:t>stabletoken</a:t>
            </a:r>
            <a:r>
              <a:rPr dirty="0" err="1"/>
              <a:t>s</a:t>
            </a:r>
            <a:r>
              <a:rPr dirty="0"/>
              <a:t>, wrapped assets, LP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667512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0" y="6812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Layer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6812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Settlement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7223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Blockchain (Movement, Ethereum) — consensus &amp; finality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Building DeFi on Movement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66928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⚡ Movement Advantages for 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0175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Sub-second finality for real-time trading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Parallel execution → higher throughput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Move's safety prevents DeFi exploits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EVM compatibility via Fractal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Low gas costs for complex DeFi ops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Native formal verification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103120"/>
            <a:ext cx="566928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🏗️ Movement DeFi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5029200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Meridian — DEX &amp; AMM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Joule — Lending &amp; Borrowing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Echelon — Money Markets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Mosaic — </a:t>
            </a:r>
            <a:r>
              <a:rPr lang="en-US" dirty="0" err="1"/>
              <a:t>Stabletoken</a:t>
            </a:r>
            <a:r>
              <a:rPr dirty="0"/>
              <a:t> Infrastructure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Canopy — Yield Aggregation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rPr dirty="0"/>
              <a:t>•  ...and growing every week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188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Let's build the future of finance — on Movement.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4754880"/>
            <a:ext cx="18288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BB"/>
                </a:solidFill>
                <a:latin typeface="Calibri"/>
              </a:defRPr>
            </a:pPr>
            <a:r>
              <a:t>movementlabs.xyz  •  docs.movementlabs.xyz  •  @MovementLabsXYZ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943600"/>
            <a:ext cx="1188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BB"/>
                </a:solidFill>
                <a:latin typeface="Calibri"/>
              </a:defRPr>
            </a:pPr>
            <a:r>
              <a:rPr lang="en-US" dirty="0"/>
              <a:t>Ulas </a:t>
            </a:r>
            <a:r>
              <a:rPr dirty="0"/>
              <a:t>•  </a:t>
            </a:r>
            <a:r>
              <a:rPr lang="en-US" dirty="0">
                <a:hlinkClick r:id="rId2"/>
              </a:rPr>
              <a:t>ulas@apilium.org</a:t>
            </a:r>
            <a:r>
              <a:rPr lang="en-US" dirty="0"/>
              <a:t> </a:t>
            </a:r>
            <a:r>
              <a:rPr dirty="0"/>
              <a:t>•  </a:t>
            </a:r>
            <a:r>
              <a:rPr lang="en-US" dirty="0"/>
              <a:t>Movement Turkey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2171</Words>
  <Application>Microsoft Macintosh PowerPoint</Application>
  <PresentationFormat>Custom</PresentationFormat>
  <Paragraphs>341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316316</cp:lastModifiedBy>
  <cp:revision>22</cp:revision>
  <dcterms:created xsi:type="dcterms:W3CDTF">2013-01-27T09:14:16Z</dcterms:created>
  <dcterms:modified xsi:type="dcterms:W3CDTF">2026-02-19T15:50:08Z</dcterms:modified>
  <cp:category/>
</cp:coreProperties>
</file>